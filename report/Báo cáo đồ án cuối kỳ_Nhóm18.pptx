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6" d="100"/>
          <a:sy n="56" d="100"/>
        </p:scale>
        <p:origin x="104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82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FD62E-8459-A57A-6064-6C1FFA8AD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8BE36-6D72-5FC6-D727-0894DB9628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9EC83-9A32-2421-53D2-51B3B39025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00E7B4-AC56-334F-A546-21DC4034235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16690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i-workforce-transformation-decision-support-framework-2rwmlzx.streamlit.ap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B45"/>
          </a:solidFill>
          <a:ln/>
        </p:spPr>
      </p:sp>
      <p:sp>
        <p:nvSpPr>
          <p:cNvPr id="3" name="Shape 1"/>
          <p:cNvSpPr/>
          <p:nvPr/>
        </p:nvSpPr>
        <p:spPr>
          <a:xfrm>
            <a:off x="10607040" y="-365760"/>
            <a:ext cx="2743200" cy="2743200"/>
          </a:xfrm>
          <a:prstGeom prst="ellipse">
            <a:avLst/>
          </a:prstGeom>
          <a:solidFill>
            <a:srgbClr val="263172"/>
          </a:solidFill>
          <a:ln/>
        </p:spPr>
      </p:sp>
      <p:sp>
        <p:nvSpPr>
          <p:cNvPr id="4" name="Shape 2"/>
          <p:cNvSpPr/>
          <p:nvPr/>
        </p:nvSpPr>
        <p:spPr>
          <a:xfrm>
            <a:off x="-1645920" y="4572000"/>
            <a:ext cx="3840480" cy="3840480"/>
          </a:xfrm>
          <a:prstGeom prst="ellipse">
            <a:avLst/>
          </a:prstGeom>
          <a:solidFill>
            <a:srgbClr val="141B45"/>
          </a:solidFill>
          <a:ln/>
        </p:spPr>
      </p:sp>
      <p:sp>
        <p:nvSpPr>
          <p:cNvPr id="5" name="Text 3"/>
          <p:cNvSpPr/>
          <p:nvPr/>
        </p:nvSpPr>
        <p:spPr>
          <a:xfrm>
            <a:off x="685800" y="496235"/>
            <a:ext cx="9144000" cy="365760"/>
          </a:xfrm>
          <a:prstGeom prst="rect">
            <a:avLst/>
          </a:prstGeom>
          <a:noFill/>
          <a:ln/>
        </p:spPr>
        <p:txBody>
          <a:bodyPr wrap="square" rtlCol="0" anchor="ctr"/>
          <a:lstStyle/>
          <a:p>
            <a:pPr marL="0" indent="0">
              <a:buNone/>
            </a:pPr>
            <a:r>
              <a:rPr lang="en-US" sz="1400" b="1" kern="0" spc="200" dirty="0">
                <a:solidFill>
                  <a:srgbClr val="D9A441"/>
                </a:solidFill>
                <a:latin typeface="Calibri" pitchFamily="34" charset="0"/>
                <a:ea typeface="Calibri" pitchFamily="34" charset="-122"/>
                <a:cs typeface="Calibri" pitchFamily="34" charset="-120"/>
              </a:rPr>
              <a:t>BÁO CÁO MÔN TRỰC QUAN HÓA DỮ LIỆU</a:t>
            </a:r>
            <a:endParaRPr lang="en-US" sz="1400" dirty="0"/>
          </a:p>
        </p:txBody>
      </p:sp>
      <p:sp>
        <p:nvSpPr>
          <p:cNvPr id="6" name="Text 4"/>
          <p:cNvSpPr/>
          <p:nvPr/>
        </p:nvSpPr>
        <p:spPr>
          <a:xfrm>
            <a:off x="685800" y="935579"/>
            <a:ext cx="1005840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PHÂN TÍCH &amp; KHUYẾN NGHỊ AI AGENT</a:t>
            </a:r>
            <a:endParaRPr lang="en-US" sz="4400" dirty="0"/>
          </a:p>
        </p:txBody>
      </p:sp>
      <p:sp>
        <p:nvSpPr>
          <p:cNvPr id="7" name="Text 5"/>
          <p:cNvSpPr/>
          <p:nvPr/>
        </p:nvSpPr>
        <p:spPr>
          <a:xfrm>
            <a:off x="731520" y="1758688"/>
            <a:ext cx="9875520" cy="548640"/>
          </a:xfrm>
          <a:prstGeom prst="rect">
            <a:avLst/>
          </a:prstGeom>
          <a:noFill/>
          <a:ln/>
        </p:spPr>
        <p:txBody>
          <a:bodyPr wrap="square" rtlCol="0" anchor="ctr"/>
          <a:lstStyle/>
          <a:p>
            <a:pPr marL="0" indent="0">
              <a:buNone/>
            </a:pPr>
            <a:r>
              <a:rPr lang="en-US" sz="1900" i="1" dirty="0">
                <a:solidFill>
                  <a:srgbClr val="CADCFC"/>
                </a:solidFill>
                <a:latin typeface="Calibri" pitchFamily="34" charset="0"/>
                <a:ea typeface="Calibri" pitchFamily="34" charset="-122"/>
                <a:cs typeface="Calibri" pitchFamily="34" charset="-120"/>
              </a:rPr>
              <a:t>Trong nhóm ngành Kinh doanh, Tài chính &amp; Quản trị Tổ chức</a:t>
            </a:r>
            <a:endParaRPr lang="en-US" sz="1900" dirty="0"/>
          </a:p>
        </p:txBody>
      </p:sp>
      <p:sp>
        <p:nvSpPr>
          <p:cNvPr id="8" name="Shape 6"/>
          <p:cNvSpPr/>
          <p:nvPr/>
        </p:nvSpPr>
        <p:spPr>
          <a:xfrm>
            <a:off x="822960" y="2336828"/>
            <a:ext cx="2926080" cy="0"/>
          </a:xfrm>
          <a:prstGeom prst="line">
            <a:avLst/>
          </a:prstGeom>
          <a:noFill/>
          <a:ln w="25400">
            <a:solidFill>
              <a:srgbClr val="D9A441"/>
            </a:solidFill>
            <a:prstDash val="solid"/>
          </a:ln>
        </p:spPr>
      </p:sp>
      <p:sp>
        <p:nvSpPr>
          <p:cNvPr id="9" name="Text 7"/>
          <p:cNvSpPr/>
          <p:nvPr/>
        </p:nvSpPr>
        <p:spPr>
          <a:xfrm>
            <a:off x="731520" y="2840240"/>
            <a:ext cx="10058400" cy="36576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Nhóm thực hiện: </a:t>
            </a:r>
            <a:r>
              <a:rPr lang="en-US" sz="1400" dirty="0">
                <a:solidFill>
                  <a:srgbClr val="FFFFFF"/>
                </a:solidFill>
                <a:latin typeface="Calibri" pitchFamily="34" charset="0"/>
                <a:ea typeface="Calibri" pitchFamily="34" charset="-122"/>
                <a:cs typeface="Calibri" pitchFamily="34" charset="-120"/>
              </a:rPr>
              <a:t>Nhóm 18</a:t>
            </a:r>
            <a:r>
              <a:rPr lang="en-US" sz="1400" b="1" dirty="0">
                <a:solidFill>
                  <a:srgbClr val="CADCFC"/>
                </a:solidFill>
                <a:latin typeface="Calibri" pitchFamily="34" charset="0"/>
                <a:ea typeface="Calibri" pitchFamily="34" charset="-122"/>
                <a:cs typeface="Calibri" pitchFamily="34" charset="-120"/>
              </a:rPr>
              <a:t>        Lớp học phần: </a:t>
            </a:r>
            <a:r>
              <a:rPr lang="en-US" sz="1400" dirty="0">
                <a:solidFill>
                  <a:srgbClr val="FFFFFF"/>
                </a:solidFill>
                <a:latin typeface="Calibri" pitchFamily="34" charset="0"/>
                <a:ea typeface="Calibri" pitchFamily="34" charset="-122"/>
                <a:cs typeface="Calibri" pitchFamily="34" charset="-120"/>
              </a:rPr>
              <a:t>DAT713_252_1_D01</a:t>
            </a:r>
            <a:endParaRPr lang="en-US" sz="1400" dirty="0"/>
          </a:p>
        </p:txBody>
      </p:sp>
      <p:sp>
        <p:nvSpPr>
          <p:cNvPr id="10" name="Text 8"/>
          <p:cNvSpPr/>
          <p:nvPr/>
        </p:nvSpPr>
        <p:spPr>
          <a:xfrm>
            <a:off x="731520" y="2429782"/>
            <a:ext cx="10058400" cy="36576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Giảng viên hướng dẫn: </a:t>
            </a:r>
            <a:r>
              <a:rPr lang="en-US" sz="1400" dirty="0">
                <a:solidFill>
                  <a:srgbClr val="FFFFFF"/>
                </a:solidFill>
                <a:latin typeface="Calibri" pitchFamily="34" charset="0"/>
                <a:ea typeface="Calibri" pitchFamily="34" charset="-122"/>
                <a:cs typeface="Calibri" pitchFamily="34" charset="-120"/>
              </a:rPr>
              <a:t>ThS. Đặng </a:t>
            </a:r>
            <a:r>
              <a:rPr lang="en-US" sz="1400" dirty="0" err="1">
                <a:solidFill>
                  <a:srgbClr val="FFFFFF"/>
                </a:solidFill>
                <a:latin typeface="Calibri" pitchFamily="34" charset="0"/>
                <a:ea typeface="Calibri" pitchFamily="34" charset="-122"/>
                <a:cs typeface="Calibri" pitchFamily="34" charset="-120"/>
              </a:rPr>
              <a:t>Đình</a:t>
            </a:r>
            <a:r>
              <a:rPr lang="en-US" sz="1400" dirty="0">
                <a:solidFill>
                  <a:srgbClr val="FFFFFF"/>
                </a:solidFill>
                <a:latin typeface="Calibri" pitchFamily="34" charset="0"/>
                <a:ea typeface="Calibri" pitchFamily="34" charset="-122"/>
                <a:cs typeface="Calibri" pitchFamily="34" charset="-120"/>
              </a:rPr>
              <a:t> </a:t>
            </a:r>
            <a:r>
              <a:rPr lang="en-US" sz="1400" dirty="0" err="1">
                <a:solidFill>
                  <a:srgbClr val="FFFFFF"/>
                </a:solidFill>
                <a:latin typeface="Calibri" pitchFamily="34" charset="0"/>
                <a:ea typeface="Calibri" pitchFamily="34" charset="-122"/>
                <a:cs typeface="Calibri" pitchFamily="34" charset="-120"/>
              </a:rPr>
              <a:t>Thuận</a:t>
            </a:r>
            <a:endParaRPr lang="en-US" sz="1400" dirty="0"/>
          </a:p>
        </p:txBody>
      </p:sp>
      <p:sp>
        <p:nvSpPr>
          <p:cNvPr id="11" name="Text 9"/>
          <p:cNvSpPr/>
          <p:nvPr/>
        </p:nvSpPr>
        <p:spPr>
          <a:xfrm>
            <a:off x="822960" y="6263640"/>
            <a:ext cx="10515600" cy="36576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Trường Đại học Ngân hàng TP. Hồ Chí Minh  ·  Sinh viên: Nguyễn Thái Thanh Vân · Nguyễn Huy Gia Toàn · Nguyễn Thị Phương Uyên · Phạm Thanh Tuyền</a:t>
            </a:r>
            <a:endParaRPr lang="en-US" sz="1000" dirty="0"/>
          </a:p>
        </p:txBody>
      </p:sp>
      <p:sp>
        <p:nvSpPr>
          <p:cNvPr id="15" name="TextBox 14">
            <a:extLst>
              <a:ext uri="{FF2B5EF4-FFF2-40B4-BE49-F238E27FC236}">
                <a16:creationId xmlns:a16="http://schemas.microsoft.com/office/drawing/2014/main" id="{9FC09E3D-BEA9-70B3-B117-7CB7B1381202}"/>
              </a:ext>
            </a:extLst>
          </p:cNvPr>
          <p:cNvSpPr txBox="1"/>
          <p:nvPr/>
        </p:nvSpPr>
        <p:spPr>
          <a:xfrm>
            <a:off x="2375807" y="3285155"/>
            <a:ext cx="8049986" cy="369332"/>
          </a:xfrm>
          <a:prstGeom prst="rect">
            <a:avLst/>
          </a:prstGeom>
          <a:noFill/>
        </p:spPr>
        <p:txBody>
          <a:bodyPr wrap="square">
            <a:spAutoFit/>
          </a:bodyPr>
          <a:lstStyle/>
          <a:p>
            <a:endParaRPr lang="vi-VN" dirty="0"/>
          </a:p>
        </p:txBody>
      </p:sp>
      <p:sp>
        <p:nvSpPr>
          <p:cNvPr id="17" name="TextBox 16">
            <a:extLst>
              <a:ext uri="{FF2B5EF4-FFF2-40B4-BE49-F238E27FC236}">
                <a16:creationId xmlns:a16="http://schemas.microsoft.com/office/drawing/2014/main" id="{F2A744BC-7287-F75A-B90E-626452601D71}"/>
              </a:ext>
            </a:extLst>
          </p:cNvPr>
          <p:cNvSpPr txBox="1"/>
          <p:nvPr/>
        </p:nvSpPr>
        <p:spPr>
          <a:xfrm>
            <a:off x="6658572" y="6007003"/>
            <a:ext cx="5320068" cy="276999"/>
          </a:xfrm>
          <a:prstGeom prst="rect">
            <a:avLst/>
          </a:prstGeom>
          <a:noFill/>
        </p:spPr>
        <p:txBody>
          <a:bodyPr wrap="square">
            <a:spAutoFit/>
          </a:bodyPr>
          <a:lstStyle/>
          <a:p>
            <a:pPr algn="l" rtl="0">
              <a:buNone/>
            </a:pPr>
            <a:r>
              <a:rPr lang="vi-VN" sz="1200" b="1" i="1" dirty="0">
                <a:solidFill>
                  <a:schemeClr val="bg1"/>
                </a:solidFill>
                <a:effectLst/>
                <a:hlinkClick r:id="rId3"/>
              </a:rPr>
              <a:t>ai-workforce-transformation-decision-support-framework.streamlit.app</a:t>
            </a:r>
            <a:endParaRPr lang="vi-VN" sz="1200" b="1" i="1" dirty="0">
              <a:solidFill>
                <a:schemeClr val="bg1"/>
              </a:solidFill>
              <a:effectLst/>
            </a:endParaRPr>
          </a:p>
        </p:txBody>
      </p:sp>
      <p:pic>
        <p:nvPicPr>
          <p:cNvPr id="19" name="Picture 18" descr="Brand • Streamlit">
            <a:extLst>
              <a:ext uri="{FF2B5EF4-FFF2-40B4-BE49-F238E27FC236}">
                <a16:creationId xmlns:a16="http://schemas.microsoft.com/office/drawing/2014/main" id="{E04CD23A-8567-0349-C873-A3F43A28BFBE}"/>
              </a:ext>
            </a:extLst>
          </p:cNvPr>
          <p:cNvPicPr>
            <a:picLocks noChangeAspect="1"/>
          </p:cNvPicPr>
          <p:nvPr/>
        </p:nvPicPr>
        <p:blipFill>
          <a:blip r:embed="rId4">
            <a:duotone>
              <a:prstClr val="black"/>
              <a:srgbClr val="FF0000">
                <a:tint val="45000"/>
                <a:satMod val="400000"/>
              </a:srgbClr>
            </a:duotone>
          </a:blip>
          <a:stretch>
            <a:fillRect/>
          </a:stretch>
        </p:blipFill>
        <p:spPr>
          <a:xfrm>
            <a:off x="7556539" y="4946783"/>
            <a:ext cx="4020741" cy="1108933"/>
          </a:xfrm>
          <a:prstGeom prst="rect">
            <a:avLst/>
          </a:prstGeom>
        </p:spPr>
      </p:pic>
      <p:graphicFrame>
        <p:nvGraphicFramePr>
          <p:cNvPr id="14" name="Table 13">
            <a:extLst>
              <a:ext uri="{FF2B5EF4-FFF2-40B4-BE49-F238E27FC236}">
                <a16:creationId xmlns:a16="http://schemas.microsoft.com/office/drawing/2014/main" id="{378E71A8-EEEB-67BA-B086-C540171A5F7D}"/>
              </a:ext>
            </a:extLst>
          </p:cNvPr>
          <p:cNvGraphicFramePr>
            <a:graphicFrameLocks noGrp="1"/>
          </p:cNvGraphicFramePr>
          <p:nvPr>
            <p:extLst>
              <p:ext uri="{D42A27DB-BD31-4B8C-83A1-F6EECF244321}">
                <p14:modId xmlns:p14="http://schemas.microsoft.com/office/powerpoint/2010/main" val="476724596"/>
              </p:ext>
            </p:extLst>
          </p:nvPr>
        </p:nvGraphicFramePr>
        <p:xfrm>
          <a:off x="274320" y="3437125"/>
          <a:ext cx="6977743" cy="2504440"/>
        </p:xfrm>
        <a:graphic>
          <a:graphicData uri="http://schemas.openxmlformats.org/drawingml/2006/table">
            <a:tbl>
              <a:tblPr>
                <a:tableStyleId>{5940675A-B579-460E-94D1-54222C63F5DA}</a:tableStyleId>
              </a:tblPr>
              <a:tblGrid>
                <a:gridCol w="515983">
                  <a:extLst>
                    <a:ext uri="{9D8B030D-6E8A-4147-A177-3AD203B41FA5}">
                      <a16:colId xmlns:a16="http://schemas.microsoft.com/office/drawing/2014/main" val="1801692760"/>
                    </a:ext>
                  </a:extLst>
                </a:gridCol>
                <a:gridCol w="2146221">
                  <a:extLst>
                    <a:ext uri="{9D8B030D-6E8A-4147-A177-3AD203B41FA5}">
                      <a16:colId xmlns:a16="http://schemas.microsoft.com/office/drawing/2014/main" val="1150537708"/>
                    </a:ext>
                  </a:extLst>
                </a:gridCol>
                <a:gridCol w="1331102">
                  <a:extLst>
                    <a:ext uri="{9D8B030D-6E8A-4147-A177-3AD203B41FA5}">
                      <a16:colId xmlns:a16="http://schemas.microsoft.com/office/drawing/2014/main" val="663694215"/>
                    </a:ext>
                  </a:extLst>
                </a:gridCol>
                <a:gridCol w="2037714">
                  <a:extLst>
                    <a:ext uri="{9D8B030D-6E8A-4147-A177-3AD203B41FA5}">
                      <a16:colId xmlns:a16="http://schemas.microsoft.com/office/drawing/2014/main" val="3810093298"/>
                    </a:ext>
                  </a:extLst>
                </a:gridCol>
                <a:gridCol w="946723">
                  <a:extLst>
                    <a:ext uri="{9D8B030D-6E8A-4147-A177-3AD203B41FA5}">
                      <a16:colId xmlns:a16="http://schemas.microsoft.com/office/drawing/2014/main" val="2613811491"/>
                    </a:ext>
                  </a:extLst>
                </a:gridCol>
              </a:tblGrid>
              <a:tr h="339573">
                <a:tc>
                  <a:txBody>
                    <a:bodyPr/>
                    <a:lstStyle/>
                    <a:p>
                      <a:pPr marL="0" marR="0" algn="ctr">
                        <a:buNone/>
                      </a:pPr>
                      <a:r>
                        <a:rPr lang="vi-VN" sz="1200" b="1">
                          <a:solidFill>
                            <a:srgbClr val="002060"/>
                          </a:solidFill>
                          <a:effectLst/>
                        </a:rPr>
                        <a:t>STT</a:t>
                      </a:r>
                      <a:endParaRPr lang="vi-VN" sz="1200" b="1" i="0">
                        <a:solidFill>
                          <a:srgbClr val="002060"/>
                        </a:solidFill>
                        <a:effectLst/>
                        <a:latin typeface="Cambria" panose="02040503050406030204" pitchFamily="18" charset="0"/>
                        <a:ea typeface="Cambria" panose="02040503050406030204" pitchFamily="18" charset="0"/>
                      </a:endParaRPr>
                    </a:p>
                  </a:txBody>
                  <a:tcPr marT="12700" marB="127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pPr>
                      <a:r>
                        <a:rPr lang="vi-VN" sz="1200" b="1">
                          <a:solidFill>
                            <a:srgbClr val="002060"/>
                          </a:solidFill>
                          <a:effectLst/>
                        </a:rPr>
                        <a:t>Họ và tên</a:t>
                      </a:r>
                      <a:endParaRPr lang="vi-VN" sz="1200" b="1" i="0">
                        <a:solidFill>
                          <a:srgbClr val="002060"/>
                        </a:solidFill>
                        <a:effectLst/>
                        <a:latin typeface="Cambria" panose="02040503050406030204" pitchFamily="18" charset="0"/>
                        <a:ea typeface="Cambria" panose="02040503050406030204" pitchFamily="18" charset="0"/>
                      </a:endParaRPr>
                    </a:p>
                  </a:txBody>
                  <a:tcPr marT="12700" marB="127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pPr>
                      <a:r>
                        <a:rPr lang="vi-VN" sz="1200" b="1">
                          <a:solidFill>
                            <a:srgbClr val="002060"/>
                          </a:solidFill>
                          <a:effectLst/>
                        </a:rPr>
                        <a:t>MSSV</a:t>
                      </a:r>
                      <a:endParaRPr lang="vi-VN" sz="1200" b="1" i="0">
                        <a:solidFill>
                          <a:srgbClr val="002060"/>
                        </a:solidFill>
                        <a:effectLst/>
                        <a:latin typeface="Cambria" panose="02040503050406030204" pitchFamily="18" charset="0"/>
                        <a:ea typeface="Cambria" panose="02040503050406030204" pitchFamily="18" charset="0"/>
                      </a:endParaRPr>
                    </a:p>
                  </a:txBody>
                  <a:tcPr marT="12700" marB="127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pPr>
                      <a:r>
                        <a:rPr lang="vi-VN" sz="1200" b="1">
                          <a:solidFill>
                            <a:srgbClr val="002060"/>
                          </a:solidFill>
                          <a:effectLst/>
                        </a:rPr>
                        <a:t>Phân công</a:t>
                      </a:r>
                      <a:endParaRPr lang="vi-VN" sz="1200" b="1" i="0">
                        <a:solidFill>
                          <a:srgbClr val="002060"/>
                        </a:solidFill>
                        <a:effectLst/>
                        <a:latin typeface="Cambria" panose="02040503050406030204" pitchFamily="18" charset="0"/>
                        <a:ea typeface="Cambria" panose="02040503050406030204" pitchFamily="18" charset="0"/>
                      </a:endParaRPr>
                    </a:p>
                  </a:txBody>
                  <a:tcPr marT="12700" marB="127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buNone/>
                      </a:pPr>
                      <a:r>
                        <a:rPr lang="vi-VN" sz="1200" b="1" dirty="0">
                          <a:solidFill>
                            <a:srgbClr val="002060"/>
                          </a:solidFill>
                          <a:effectLst/>
                        </a:rPr>
                        <a:t>Mức độ đóng góp</a:t>
                      </a:r>
                      <a:endParaRPr lang="vi-VN" sz="1200" b="1" i="0" dirty="0">
                        <a:solidFill>
                          <a:srgbClr val="002060"/>
                        </a:solidFill>
                        <a:effectLst/>
                        <a:latin typeface="Cambria" panose="02040503050406030204" pitchFamily="18" charset="0"/>
                        <a:ea typeface="Cambria" panose="02040503050406030204" pitchFamily="18" charset="0"/>
                      </a:endParaRPr>
                    </a:p>
                  </a:txBody>
                  <a:tcPr marT="12700" marB="12700" anchor="ctr">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2861086"/>
                  </a:ext>
                </a:extLst>
              </a:tr>
              <a:tr h="496299">
                <a:tc>
                  <a:txBody>
                    <a:bodyPr/>
                    <a:lstStyle/>
                    <a:p>
                      <a:pPr marL="0" marR="0" algn="r" fontAlgn="t">
                        <a:buNone/>
                      </a:pPr>
                      <a:r>
                        <a:rPr lang="vi-VN" sz="1200" b="0">
                          <a:solidFill>
                            <a:srgbClr val="002060"/>
                          </a:solidFill>
                          <a:effectLst/>
                        </a:rPr>
                        <a:t>1</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dirty="0">
                          <a:solidFill>
                            <a:srgbClr val="002060"/>
                          </a:solidFill>
                          <a:effectLst/>
                        </a:rPr>
                        <a:t>Nguyễn Thái Thanh Vân </a:t>
                      </a:r>
                      <a:endParaRPr lang="en-US" sz="1200" b="0" dirty="0">
                        <a:solidFill>
                          <a:srgbClr val="002060"/>
                        </a:solidFill>
                        <a:effectLst/>
                      </a:endParaRPr>
                    </a:p>
                    <a:p>
                      <a:pPr marL="0" marR="0" algn="l" fontAlgn="t">
                        <a:buNone/>
                      </a:pPr>
                      <a:r>
                        <a:rPr lang="vi-VN" sz="1200" b="0" dirty="0">
                          <a:solidFill>
                            <a:srgbClr val="002060"/>
                          </a:solidFill>
                          <a:effectLst/>
                        </a:rPr>
                        <a:t>(trưởng nhóm)</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030239230284</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Phân tích dữ liệu, Tổng hợp code, thiết kế xây dựng dashboard, làm slide trình bày</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100%</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1467515"/>
                  </a:ext>
                </a:extLst>
              </a:tr>
              <a:tr h="339573">
                <a:tc>
                  <a:txBody>
                    <a:bodyPr/>
                    <a:lstStyle/>
                    <a:p>
                      <a:pPr marL="0" marR="0" algn="r" fontAlgn="t">
                        <a:buNone/>
                      </a:pPr>
                      <a:r>
                        <a:rPr lang="vi-VN" sz="1200" b="0">
                          <a:solidFill>
                            <a:srgbClr val="002060"/>
                          </a:solidFill>
                          <a:effectLst/>
                        </a:rPr>
                        <a:t>2</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Nguyễn Huy Gia Toàn</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dirty="0">
                          <a:solidFill>
                            <a:srgbClr val="002060"/>
                          </a:solidFill>
                          <a:effectLst/>
                        </a:rPr>
                        <a:t>030239230247</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dirty="0">
                          <a:solidFill>
                            <a:srgbClr val="002060"/>
                          </a:solidFill>
                          <a:effectLst/>
                        </a:rPr>
                        <a:t>Mô phỏng kịch bản, xây dựng hệ thống, làm </a:t>
                      </a:r>
                      <a:r>
                        <a:rPr lang="vi-VN" sz="1200" b="0" dirty="0" err="1">
                          <a:solidFill>
                            <a:srgbClr val="002060"/>
                          </a:solidFill>
                          <a:effectLst/>
                        </a:rPr>
                        <a:t>slide</a:t>
                      </a:r>
                      <a:r>
                        <a:rPr lang="vi-VN" sz="1200" b="0" dirty="0">
                          <a:solidFill>
                            <a:srgbClr val="002060"/>
                          </a:solidFill>
                          <a:effectLst/>
                        </a:rPr>
                        <a:t> trình bày</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100%</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0987973"/>
                  </a:ext>
                </a:extLst>
              </a:tr>
              <a:tr h="339573">
                <a:tc>
                  <a:txBody>
                    <a:bodyPr/>
                    <a:lstStyle/>
                    <a:p>
                      <a:pPr marL="0" marR="0" algn="r" fontAlgn="t">
                        <a:buNone/>
                      </a:pPr>
                      <a:r>
                        <a:rPr lang="vi-VN" sz="1200" b="0">
                          <a:solidFill>
                            <a:srgbClr val="002060"/>
                          </a:solidFill>
                          <a:effectLst/>
                        </a:rPr>
                        <a:t>3</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Nguyễn Thị Phương Uyên</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dirty="0">
                          <a:solidFill>
                            <a:srgbClr val="002060"/>
                          </a:solidFill>
                          <a:effectLst/>
                        </a:rPr>
                        <a:t>030239230279</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Tạo các chỉ số, visualization, làm báo cáo (word)</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100%</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39459812"/>
                  </a:ext>
                </a:extLst>
              </a:tr>
              <a:tr h="182847">
                <a:tc>
                  <a:txBody>
                    <a:bodyPr/>
                    <a:lstStyle/>
                    <a:p>
                      <a:pPr marL="0" marR="0" algn="r" fontAlgn="t">
                        <a:buNone/>
                      </a:pPr>
                      <a:r>
                        <a:rPr lang="vi-VN" sz="1200" b="0" dirty="0">
                          <a:solidFill>
                            <a:srgbClr val="002060"/>
                          </a:solidFill>
                          <a:effectLst/>
                        </a:rPr>
                        <a:t>4</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Phạm Thanh Tuyền</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kern="1200" dirty="0">
                          <a:solidFill>
                            <a:srgbClr val="002060"/>
                          </a:solidFill>
                          <a:effectLst/>
                        </a:rPr>
                        <a:t>030239320276</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a:solidFill>
                            <a:srgbClr val="002060"/>
                          </a:solidFill>
                          <a:effectLst/>
                        </a:rPr>
                        <a:t>Tiền xử lý dữ liệu</a:t>
                      </a:r>
                      <a:endParaRPr lang="vi-VN" sz="1200" b="0" i="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l" fontAlgn="t">
                        <a:buNone/>
                      </a:pPr>
                      <a:r>
                        <a:rPr lang="vi-VN" sz="1200" b="0" dirty="0">
                          <a:solidFill>
                            <a:srgbClr val="002060"/>
                          </a:solidFill>
                          <a:effectLst/>
                        </a:rPr>
                        <a:t>65%</a:t>
                      </a:r>
                      <a:endParaRPr lang="vi-VN" sz="1200" b="0" i="0" dirty="0">
                        <a:solidFill>
                          <a:srgbClr val="002060"/>
                        </a:solidFill>
                        <a:effectLst/>
                        <a:latin typeface="Cambria" panose="02040503050406030204" pitchFamily="18" charset="0"/>
                        <a:ea typeface="Cambria" panose="02040503050406030204" pitchFamily="18" charset="0"/>
                      </a:endParaRPr>
                    </a:p>
                  </a:txBody>
                  <a:tcPr marT="12700" marB="12700">
                    <a:lnL w="28575" cap="flat" cmpd="sng" algn="ctr">
                      <a:solidFill>
                        <a:srgbClr val="002060"/>
                      </a:solidFill>
                      <a:prstDash val="solid"/>
                      <a:round/>
                      <a:headEnd type="none" w="med" len="med"/>
                      <a:tailEnd type="none" w="med" len="med"/>
                    </a:lnL>
                    <a:lnR w="28575" cap="flat" cmpd="sng" algn="ctr">
                      <a:solidFill>
                        <a:srgbClr val="002060"/>
                      </a:solidFill>
                      <a:prstDash val="solid"/>
                      <a:round/>
                      <a:headEnd type="none" w="med" len="med"/>
                      <a:tailEnd type="none" w="med" len="med"/>
                    </a:lnR>
                    <a:lnT w="28575" cap="flat" cmpd="sng" algn="ctr">
                      <a:solidFill>
                        <a:srgbClr val="002060"/>
                      </a:solidFill>
                      <a:prstDash val="solid"/>
                      <a:round/>
                      <a:headEnd type="none" w="med" len="med"/>
                      <a:tailEnd type="none" w="med" len="med"/>
                    </a:lnT>
                    <a:lnB w="28575"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9046461"/>
                  </a:ext>
                </a:extLst>
              </a:tr>
            </a:tbl>
          </a:graphicData>
        </a:graphic>
      </p:graphicFrame>
      <p:pic>
        <p:nvPicPr>
          <p:cNvPr id="18" name="Picture 17">
            <a:extLst>
              <a:ext uri="{FF2B5EF4-FFF2-40B4-BE49-F238E27FC236}">
                <a16:creationId xmlns:a16="http://schemas.microsoft.com/office/drawing/2014/main" id="{4DC5E58D-D2B7-003D-4EAC-007995EDAF71}"/>
              </a:ext>
            </a:extLst>
          </p:cNvPr>
          <p:cNvPicPr>
            <a:picLocks noChangeAspect="1"/>
          </p:cNvPicPr>
          <p:nvPr/>
        </p:nvPicPr>
        <p:blipFill>
          <a:blip r:embed="rId5"/>
          <a:stretch>
            <a:fillRect/>
          </a:stretch>
        </p:blipFill>
        <p:spPr>
          <a:xfrm>
            <a:off x="8374380" y="2282609"/>
            <a:ext cx="2636520" cy="2636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1 · TỔNG QUAN BÀI TOÁN</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Bối cảnh nghiên cứu &amp; Bài toán đặt ra</a:t>
            </a:r>
            <a:endParaRPr lang="en-US" sz="3000" dirty="0"/>
          </a:p>
        </p:txBody>
      </p:sp>
      <p:sp>
        <p:nvSpPr>
          <p:cNvPr id="4" name="Shape 2"/>
          <p:cNvSpPr/>
          <p:nvPr/>
        </p:nvSpPr>
        <p:spPr>
          <a:xfrm>
            <a:off x="548640" y="1508760"/>
            <a:ext cx="6126480" cy="4709160"/>
          </a:xfrm>
          <a:prstGeom prst="rect">
            <a:avLst/>
          </a:prstGeom>
          <a:solidFill>
            <a:srgbClr val="F4F5FA"/>
          </a:solidFill>
          <a:ln/>
        </p:spPr>
      </p:sp>
      <p:sp>
        <p:nvSpPr>
          <p:cNvPr id="5" name="Text 3"/>
          <p:cNvSpPr/>
          <p:nvPr/>
        </p:nvSpPr>
        <p:spPr>
          <a:xfrm>
            <a:off x="868680" y="1737360"/>
            <a:ext cx="54864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BỐI CẢNH</a:t>
            </a:r>
            <a:endParaRPr lang="en-US" sz="1400" dirty="0"/>
          </a:p>
        </p:txBody>
      </p:sp>
      <p:sp>
        <p:nvSpPr>
          <p:cNvPr id="6" name="Text 4"/>
          <p:cNvSpPr/>
          <p:nvPr/>
        </p:nvSpPr>
        <p:spPr>
          <a:xfrm>
            <a:off x="868680" y="2148840"/>
            <a:ext cx="5532120" cy="3931920"/>
          </a:xfrm>
          <a:prstGeom prst="rect">
            <a:avLst/>
          </a:prstGeom>
          <a:noFill/>
          <a:ln/>
        </p:spPr>
        <p:txBody>
          <a:bodyPr wrap="square" rtlCol="0" anchor="ctr"/>
          <a:lstStyle/>
          <a:p>
            <a:pPr marL="342900" indent="-342900">
              <a:lnSpc>
                <a:spcPct val="110000"/>
              </a:lnSpc>
              <a:spcAft>
                <a:spcPts val="1000"/>
              </a:spcAft>
              <a:buSzPct val="100000"/>
              <a:buChar char="•"/>
            </a:pPr>
            <a:r>
              <a:rPr lang="en-US" sz="1350" dirty="0">
                <a:solidFill>
                  <a:srgbClr val="27314D"/>
                </a:solidFill>
                <a:latin typeface="Calibri" pitchFamily="34" charset="0"/>
                <a:ea typeface="Calibri" pitchFamily="34" charset="-122"/>
                <a:cs typeface="Calibri" pitchFamily="34" charset="-120"/>
              </a:rPr>
              <a:t>AI Agent phát triển nhanh, thay đổi cách vận hành của doanh nghiệp trong nhóm ngành Kinh doanh, Tài chính, Quản trị tổ chức.</a:t>
            </a:r>
            <a:endParaRPr lang="en-US" sz="1350" dirty="0"/>
          </a:p>
          <a:p>
            <a:pPr marL="342900" indent="-342900">
              <a:lnSpc>
                <a:spcPct val="110000"/>
              </a:lnSpc>
              <a:spcAft>
                <a:spcPts val="1000"/>
              </a:spcAft>
              <a:buSzPct val="100000"/>
              <a:buChar char="•"/>
            </a:pPr>
            <a:r>
              <a:rPr lang="en-US" sz="1350" dirty="0">
                <a:solidFill>
                  <a:srgbClr val="27314D"/>
                </a:solidFill>
                <a:latin typeface="Calibri" pitchFamily="34" charset="0"/>
                <a:ea typeface="Calibri" pitchFamily="34" charset="-122"/>
                <a:cs typeface="Calibri" pitchFamily="34" charset="-120"/>
              </a:rPr>
              <a:t>Ứng dụng: phân tích tài chính, quản lý khách hàng, lập kế hoạch kinh doanh, quản trị nhân sự, kiểm soát tuân thủ.</a:t>
            </a:r>
            <a:endParaRPr lang="en-US" sz="1350" dirty="0"/>
          </a:p>
          <a:p>
            <a:pPr marL="342900" indent="-342900">
              <a:lnSpc>
                <a:spcPct val="110000"/>
              </a:lnSpc>
              <a:spcAft>
                <a:spcPts val="1000"/>
              </a:spcAft>
              <a:buSzPct val="100000"/>
              <a:buChar char="•"/>
            </a:pPr>
            <a:r>
              <a:rPr lang="en-US" sz="1350" dirty="0">
                <a:solidFill>
                  <a:srgbClr val="27314D"/>
                </a:solidFill>
                <a:latin typeface="Calibri" pitchFamily="34" charset="0"/>
                <a:ea typeface="Calibri" pitchFamily="34" charset="-122"/>
                <a:cs typeface="Calibri" pitchFamily="34" charset="-120"/>
              </a:rPr>
              <a:t>Mức độ tác động không đồng đều: một số nghề mang tính lặp lại, dễ tự động hoá; nhiều nghề khác vẫn cần tư duy chiến lược và tương tác con người.</a:t>
            </a:r>
            <a:endParaRPr lang="en-US" sz="1350" dirty="0"/>
          </a:p>
          <a:p>
            <a:pPr marL="342900" indent="-342900">
              <a:lnSpc>
                <a:spcPct val="110000"/>
              </a:lnSpc>
              <a:spcAft>
                <a:spcPts val="1000"/>
              </a:spcAft>
              <a:buSzPct val="100000"/>
              <a:buChar char="•"/>
            </a:pPr>
            <a:r>
              <a:rPr lang="en-US" sz="1350" dirty="0">
                <a:solidFill>
                  <a:srgbClr val="27314D"/>
                </a:solidFill>
                <a:latin typeface="Calibri" pitchFamily="34" charset="0"/>
                <a:ea typeface="Calibri" pitchFamily="34" charset="-122"/>
                <a:cs typeface="Calibri" pitchFamily="34" charset="-120"/>
              </a:rPr>
              <a:t>Thách thức: mức độ sẵn sàng của người lao động, nguy cơ gián đoạn và nhu cầu tái đào tạo nguồn nhân lực.</a:t>
            </a:r>
            <a:endParaRPr lang="en-US" sz="1350" dirty="0"/>
          </a:p>
        </p:txBody>
      </p:sp>
      <p:sp>
        <p:nvSpPr>
          <p:cNvPr id="7" name="Shape 5"/>
          <p:cNvSpPr/>
          <p:nvPr/>
        </p:nvSpPr>
        <p:spPr>
          <a:xfrm>
            <a:off x="6903720" y="1508760"/>
            <a:ext cx="4754880" cy="1874520"/>
          </a:xfrm>
          <a:prstGeom prst="rect">
            <a:avLst/>
          </a:prstGeom>
          <a:solidFill>
            <a:srgbClr val="1E2761"/>
          </a:solidFill>
          <a:ln/>
        </p:spPr>
      </p:sp>
      <p:sp>
        <p:nvSpPr>
          <p:cNvPr id="8" name="Text 6"/>
          <p:cNvSpPr/>
          <p:nvPr/>
        </p:nvSpPr>
        <p:spPr>
          <a:xfrm>
            <a:off x="7178040" y="1645920"/>
            <a:ext cx="4206240" cy="292608"/>
          </a:xfrm>
          <a:prstGeom prst="rect">
            <a:avLst/>
          </a:prstGeom>
          <a:noFill/>
          <a:ln/>
        </p:spPr>
        <p:txBody>
          <a:bodyPr wrap="square" rtlCol="0" anchor="ctr"/>
          <a:lstStyle/>
          <a:p>
            <a:pPr marL="0" indent="0">
              <a:buNone/>
            </a:pPr>
            <a:r>
              <a:rPr lang="en-US" sz="1300" b="1" dirty="0">
                <a:solidFill>
                  <a:srgbClr val="D9A441"/>
                </a:solidFill>
                <a:latin typeface="Calibri" pitchFamily="34" charset="0"/>
                <a:ea typeface="Calibri" pitchFamily="34" charset="-122"/>
                <a:cs typeface="Calibri" pitchFamily="34" charset="-120"/>
              </a:rPr>
              <a:t>BÀI TOÁN</a:t>
            </a:r>
            <a:endParaRPr lang="en-US" sz="1300" dirty="0"/>
          </a:p>
        </p:txBody>
      </p:sp>
      <p:sp>
        <p:nvSpPr>
          <p:cNvPr id="9" name="Text 7"/>
          <p:cNvSpPr/>
          <p:nvPr/>
        </p:nvSpPr>
        <p:spPr>
          <a:xfrm>
            <a:off x="7178040" y="1965960"/>
            <a:ext cx="4206240" cy="1325880"/>
          </a:xfrm>
          <a:prstGeom prst="rect">
            <a:avLst/>
          </a:prstGeom>
          <a:noFill/>
          <a:ln/>
        </p:spPr>
        <p:txBody>
          <a:bodyPr wrap="square"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Nguồn lực có hạn — doanh nghiệp không thể triển khai AI đồng thời cho mọi vị trí công việc. Cần xác định nhóm nghề nên ưu tiên đầu tư, nhóm nghề cần tái đào tạo, và nhóm nghề nên giữ vai trò chủ đạo của con người.</a:t>
            </a:r>
            <a:endParaRPr lang="en-US" sz="1250" dirty="0"/>
          </a:p>
        </p:txBody>
      </p:sp>
      <p:sp>
        <p:nvSpPr>
          <p:cNvPr id="10" name="Shape 8"/>
          <p:cNvSpPr/>
          <p:nvPr/>
        </p:nvSpPr>
        <p:spPr>
          <a:xfrm>
            <a:off x="6903720" y="3611880"/>
            <a:ext cx="457200" cy="457200"/>
          </a:xfrm>
          <a:prstGeom prst="ellipse">
            <a:avLst/>
          </a:prstGeom>
          <a:solidFill>
            <a:srgbClr val="D9A441"/>
          </a:solidFill>
          <a:ln/>
        </p:spPr>
      </p:sp>
      <p:sp>
        <p:nvSpPr>
          <p:cNvPr id="11" name="Text 9"/>
          <p:cNvSpPr/>
          <p:nvPr/>
        </p:nvSpPr>
        <p:spPr>
          <a:xfrm>
            <a:off x="6903720" y="3611880"/>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12" name="Shape 10"/>
          <p:cNvSpPr/>
          <p:nvPr/>
        </p:nvSpPr>
        <p:spPr>
          <a:xfrm>
            <a:off x="7498080" y="3611880"/>
            <a:ext cx="4160520" cy="594360"/>
          </a:xfrm>
          <a:prstGeom prst="rect">
            <a:avLst/>
          </a:prstGeom>
          <a:solidFill>
            <a:srgbClr val="F4F5FA"/>
          </a:solidFill>
          <a:ln/>
        </p:spPr>
      </p:sp>
      <p:sp>
        <p:nvSpPr>
          <p:cNvPr id="13" name="Text 11"/>
          <p:cNvSpPr/>
          <p:nvPr/>
        </p:nvSpPr>
        <p:spPr>
          <a:xfrm>
            <a:off x="7680960" y="3611880"/>
            <a:ext cx="3840480" cy="594360"/>
          </a:xfrm>
          <a:prstGeom prst="rect">
            <a:avLst/>
          </a:prstGeom>
          <a:noFill/>
          <a:ln/>
        </p:spPr>
        <p:txBody>
          <a:bodyPr wrap="square" rtlCol="0" anchor="ctr"/>
          <a:lstStyle/>
          <a:p>
            <a:pPr marL="0" indent="0">
              <a:buNone/>
            </a:pPr>
            <a:r>
              <a:rPr lang="en-US" sz="1250" b="1" dirty="0">
                <a:solidFill>
                  <a:srgbClr val="27314D"/>
                </a:solidFill>
                <a:latin typeface="Calibri" pitchFamily="34" charset="0"/>
                <a:ea typeface="Calibri" pitchFamily="34" charset="-122"/>
                <a:cs typeface="Calibri" pitchFamily="34" charset="-120"/>
              </a:rPr>
              <a:t>AI có thể làm được gì?</a:t>
            </a:r>
            <a:endParaRPr lang="en-US" sz="1250" dirty="0"/>
          </a:p>
        </p:txBody>
      </p:sp>
      <p:sp>
        <p:nvSpPr>
          <p:cNvPr id="14" name="Shape 12"/>
          <p:cNvSpPr/>
          <p:nvPr/>
        </p:nvSpPr>
        <p:spPr>
          <a:xfrm>
            <a:off x="6903720" y="4407408"/>
            <a:ext cx="457200" cy="457200"/>
          </a:xfrm>
          <a:prstGeom prst="ellipse">
            <a:avLst/>
          </a:prstGeom>
          <a:solidFill>
            <a:srgbClr val="D9A441"/>
          </a:solidFill>
          <a:ln/>
        </p:spPr>
      </p:sp>
      <p:sp>
        <p:nvSpPr>
          <p:cNvPr id="15" name="Text 13"/>
          <p:cNvSpPr/>
          <p:nvPr/>
        </p:nvSpPr>
        <p:spPr>
          <a:xfrm>
            <a:off x="6903720" y="4407408"/>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6" name="Shape 14"/>
          <p:cNvSpPr/>
          <p:nvPr/>
        </p:nvSpPr>
        <p:spPr>
          <a:xfrm>
            <a:off x="7498080" y="4407408"/>
            <a:ext cx="4160520" cy="594360"/>
          </a:xfrm>
          <a:prstGeom prst="rect">
            <a:avLst/>
          </a:prstGeom>
          <a:solidFill>
            <a:srgbClr val="F4F5FA"/>
          </a:solidFill>
          <a:ln/>
        </p:spPr>
      </p:sp>
      <p:sp>
        <p:nvSpPr>
          <p:cNvPr id="17" name="Text 15"/>
          <p:cNvSpPr/>
          <p:nvPr/>
        </p:nvSpPr>
        <p:spPr>
          <a:xfrm>
            <a:off x="7680960" y="4407408"/>
            <a:ext cx="3840480" cy="594360"/>
          </a:xfrm>
          <a:prstGeom prst="rect">
            <a:avLst/>
          </a:prstGeom>
          <a:noFill/>
          <a:ln/>
        </p:spPr>
        <p:txBody>
          <a:bodyPr wrap="square" rtlCol="0" anchor="ctr"/>
          <a:lstStyle/>
          <a:p>
            <a:pPr marL="0" indent="0">
              <a:buNone/>
            </a:pPr>
            <a:r>
              <a:rPr lang="en-US" sz="1250" b="1" dirty="0">
                <a:solidFill>
                  <a:srgbClr val="27314D"/>
                </a:solidFill>
                <a:latin typeface="Calibri" pitchFamily="34" charset="0"/>
                <a:ea typeface="Calibri" pitchFamily="34" charset="-122"/>
                <a:cs typeface="Calibri" pitchFamily="34" charset="-120"/>
              </a:rPr>
              <a:t>Nên đầu tư AI vào nhóm nghề nào trước?</a:t>
            </a:r>
            <a:endParaRPr lang="en-US" sz="1250" dirty="0"/>
          </a:p>
        </p:txBody>
      </p:sp>
      <p:sp>
        <p:nvSpPr>
          <p:cNvPr id="18" name="Shape 16"/>
          <p:cNvSpPr/>
          <p:nvPr/>
        </p:nvSpPr>
        <p:spPr>
          <a:xfrm>
            <a:off x="6903720" y="5202936"/>
            <a:ext cx="457200" cy="457200"/>
          </a:xfrm>
          <a:prstGeom prst="ellipse">
            <a:avLst/>
          </a:prstGeom>
          <a:solidFill>
            <a:srgbClr val="D9A441"/>
          </a:solidFill>
          <a:ln/>
        </p:spPr>
      </p:sp>
      <p:sp>
        <p:nvSpPr>
          <p:cNvPr id="19" name="Text 17"/>
          <p:cNvSpPr/>
          <p:nvPr/>
        </p:nvSpPr>
        <p:spPr>
          <a:xfrm>
            <a:off x="6903720" y="5202936"/>
            <a:ext cx="457200" cy="45720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20" name="Shape 18"/>
          <p:cNvSpPr/>
          <p:nvPr/>
        </p:nvSpPr>
        <p:spPr>
          <a:xfrm>
            <a:off x="7498080" y="5202936"/>
            <a:ext cx="4160520" cy="594360"/>
          </a:xfrm>
          <a:prstGeom prst="rect">
            <a:avLst/>
          </a:prstGeom>
          <a:solidFill>
            <a:srgbClr val="F4F5FA"/>
          </a:solidFill>
          <a:ln/>
        </p:spPr>
      </p:sp>
      <p:sp>
        <p:nvSpPr>
          <p:cNvPr id="21" name="Text 19"/>
          <p:cNvSpPr/>
          <p:nvPr/>
        </p:nvSpPr>
        <p:spPr>
          <a:xfrm>
            <a:off x="7680960" y="5202936"/>
            <a:ext cx="3840480" cy="594360"/>
          </a:xfrm>
          <a:prstGeom prst="rect">
            <a:avLst/>
          </a:prstGeom>
          <a:noFill/>
          <a:ln/>
        </p:spPr>
        <p:txBody>
          <a:bodyPr wrap="square" rtlCol="0" anchor="ctr"/>
          <a:lstStyle/>
          <a:p>
            <a:pPr marL="0" indent="0">
              <a:buNone/>
            </a:pPr>
            <a:r>
              <a:rPr lang="en-US" sz="1250" b="1" dirty="0">
                <a:solidFill>
                  <a:srgbClr val="27314D"/>
                </a:solidFill>
                <a:latin typeface="Calibri" pitchFamily="34" charset="0"/>
                <a:ea typeface="Calibri" pitchFamily="34" charset="-122"/>
                <a:cs typeface="Calibri" pitchFamily="34" charset="-120"/>
              </a:rPr>
              <a:t>Cần chuẩn bị lực lượng lao động như thế nào?</a:t>
            </a:r>
            <a:endParaRPr lang="en-US" sz="1250" dirty="0"/>
          </a:p>
        </p:txBody>
      </p:sp>
      <p:sp>
        <p:nvSpPr>
          <p:cNvPr id="22" name="Text 20"/>
          <p:cNvSpPr/>
          <p:nvPr/>
        </p:nvSpPr>
        <p:spPr>
          <a:xfrm>
            <a:off x="6903720" y="6080760"/>
            <a:ext cx="4754880" cy="457200"/>
          </a:xfrm>
          <a:prstGeom prst="rect">
            <a:avLst/>
          </a:prstGeom>
          <a:noFill/>
          <a:ln/>
        </p:spPr>
        <p:txBody>
          <a:bodyPr wrap="square" rtlCol="0" anchor="ctr"/>
          <a:lstStyle/>
          <a:p>
            <a:pPr marL="0" indent="0">
              <a:lnSpc>
                <a:spcPct val="110000"/>
              </a:lnSpc>
              <a:buNone/>
            </a:pPr>
            <a:r>
              <a:rPr lang="en-US" sz="1150" b="1" i="1" dirty="0">
                <a:solidFill>
                  <a:srgbClr val="1E2761"/>
                </a:solidFill>
                <a:latin typeface="Calibri" pitchFamily="34" charset="0"/>
                <a:ea typeface="Calibri" pitchFamily="34" charset="-122"/>
                <a:cs typeface="Calibri" pitchFamily="34" charset="-120"/>
              </a:rPr>
              <a:t>Giải pháp đề xuất: </a:t>
            </a:r>
            <a:r>
              <a:rPr lang="en-US" sz="1150" i="1" dirty="0">
                <a:solidFill>
                  <a:srgbClr val="27314D"/>
                </a:solidFill>
                <a:latin typeface="Calibri" pitchFamily="34" charset="0"/>
                <a:ea typeface="Calibri" pitchFamily="34" charset="-122"/>
                <a:cs typeface="Calibri" pitchFamily="34" charset="-120"/>
              </a:rPr>
              <a:t>xây dựng Decision Support Framework dựa trên AI Capability, Worker Readiness và Worker Friction Index (WFI).</a:t>
            </a:r>
            <a:endParaRPr lang="en-US" sz="1150" dirty="0"/>
          </a:p>
        </p:txBody>
      </p:sp>
      <p:sp>
        <p:nvSpPr>
          <p:cNvPr id="23" name="Text 21"/>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24" name="Text 22"/>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1 · PHẠM VI NGHIÊN CỨU</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Câu hỏi nghiên cứu &amp; Bộ dữ liệu</a:t>
            </a:r>
            <a:endParaRPr lang="en-US" sz="3000" dirty="0"/>
          </a:p>
        </p:txBody>
      </p:sp>
      <p:sp>
        <p:nvSpPr>
          <p:cNvPr id="4" name="Text 2"/>
          <p:cNvSpPr/>
          <p:nvPr/>
        </p:nvSpPr>
        <p:spPr>
          <a:xfrm>
            <a:off x="548640" y="1417320"/>
            <a:ext cx="54864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6 CÂU HỎI PHÂN TÍCH</a:t>
            </a:r>
            <a:endParaRPr lang="en-US" sz="1300" dirty="0"/>
          </a:p>
        </p:txBody>
      </p:sp>
      <p:sp>
        <p:nvSpPr>
          <p:cNvPr id="5" name="Shape 3"/>
          <p:cNvSpPr/>
          <p:nvPr/>
        </p:nvSpPr>
        <p:spPr>
          <a:xfrm>
            <a:off x="548640" y="1828800"/>
            <a:ext cx="384048" cy="384048"/>
          </a:xfrm>
          <a:prstGeom prst="rect">
            <a:avLst/>
          </a:prstGeom>
          <a:solidFill>
            <a:srgbClr val="1E2761"/>
          </a:solidFill>
          <a:ln/>
        </p:spPr>
      </p:sp>
      <p:sp>
        <p:nvSpPr>
          <p:cNvPr id="6" name="Text 4"/>
          <p:cNvSpPr/>
          <p:nvPr/>
        </p:nvSpPr>
        <p:spPr>
          <a:xfrm>
            <a:off x="548640" y="1828800"/>
            <a:ext cx="38404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RQ1</a:t>
            </a:r>
            <a:endParaRPr lang="en-US" sz="900" dirty="0"/>
          </a:p>
        </p:txBody>
      </p:sp>
      <p:sp>
        <p:nvSpPr>
          <p:cNvPr id="7" name="Text 5"/>
          <p:cNvSpPr/>
          <p:nvPr/>
        </p:nvSpPr>
        <p:spPr>
          <a:xfrm>
            <a:off x="1051560" y="1810512"/>
            <a:ext cx="5394960" cy="548640"/>
          </a:xfrm>
          <a:prstGeom prst="rect">
            <a:avLst/>
          </a:prstGeom>
          <a:noFill/>
          <a:ln/>
        </p:spPr>
        <p:txBody>
          <a:bodyPr wrap="square" rtlCol="0" anchor="ctr"/>
          <a:lstStyle/>
          <a:p>
            <a:pPr marL="0" indent="0">
              <a:lnSpc>
                <a:spcPct val="100000"/>
              </a:lnSpc>
              <a:buNone/>
            </a:pPr>
            <a:r>
              <a:rPr lang="en-US" sz="1200" dirty="0">
                <a:solidFill>
                  <a:srgbClr val="27314D"/>
                </a:solidFill>
                <a:latin typeface="Calibri" pitchFamily="34" charset="0"/>
                <a:ea typeface="Calibri" pitchFamily="34" charset="-122"/>
                <a:cs typeface="Calibri" pitchFamily="34" charset="-120"/>
              </a:rPr>
              <a:t>AI có thể tự động hoá những nghề nào, ở mức độ nào?</a:t>
            </a:r>
            <a:endParaRPr lang="en-US" sz="1200" dirty="0"/>
          </a:p>
        </p:txBody>
      </p:sp>
      <p:sp>
        <p:nvSpPr>
          <p:cNvPr id="8" name="Shape 6"/>
          <p:cNvSpPr/>
          <p:nvPr/>
        </p:nvSpPr>
        <p:spPr>
          <a:xfrm>
            <a:off x="548640" y="2532888"/>
            <a:ext cx="384048" cy="384048"/>
          </a:xfrm>
          <a:prstGeom prst="rect">
            <a:avLst/>
          </a:prstGeom>
          <a:solidFill>
            <a:srgbClr val="1E2761"/>
          </a:solidFill>
          <a:ln/>
        </p:spPr>
      </p:sp>
      <p:sp>
        <p:nvSpPr>
          <p:cNvPr id="9" name="Text 7"/>
          <p:cNvSpPr/>
          <p:nvPr/>
        </p:nvSpPr>
        <p:spPr>
          <a:xfrm>
            <a:off x="548640" y="2532888"/>
            <a:ext cx="38404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RQ2</a:t>
            </a:r>
            <a:endParaRPr lang="en-US" sz="900" dirty="0"/>
          </a:p>
        </p:txBody>
      </p:sp>
      <p:sp>
        <p:nvSpPr>
          <p:cNvPr id="10" name="Text 8"/>
          <p:cNvSpPr/>
          <p:nvPr/>
        </p:nvSpPr>
        <p:spPr>
          <a:xfrm>
            <a:off x="1051560" y="2514600"/>
            <a:ext cx="5394960" cy="548640"/>
          </a:xfrm>
          <a:prstGeom prst="rect">
            <a:avLst/>
          </a:prstGeom>
          <a:noFill/>
          <a:ln/>
        </p:spPr>
        <p:txBody>
          <a:bodyPr wrap="square" rtlCol="0" anchor="ctr"/>
          <a:lstStyle/>
          <a:p>
            <a:pPr marL="0" indent="0">
              <a:lnSpc>
                <a:spcPct val="100000"/>
              </a:lnSpc>
              <a:buNone/>
            </a:pPr>
            <a:r>
              <a:rPr lang="en-US" sz="1200" dirty="0">
                <a:solidFill>
                  <a:srgbClr val="27314D"/>
                </a:solidFill>
                <a:latin typeface="Calibri" pitchFamily="34" charset="0"/>
                <a:ea typeface="Calibri" pitchFamily="34" charset="-122"/>
                <a:cs typeface="Calibri" pitchFamily="34" charset="-120"/>
              </a:rPr>
              <a:t>Người lao động có sẵn sàng tiếp nhận AI hay không?</a:t>
            </a:r>
            <a:endParaRPr lang="en-US" sz="1200" dirty="0"/>
          </a:p>
        </p:txBody>
      </p:sp>
      <p:sp>
        <p:nvSpPr>
          <p:cNvPr id="11" name="Shape 9"/>
          <p:cNvSpPr/>
          <p:nvPr/>
        </p:nvSpPr>
        <p:spPr>
          <a:xfrm>
            <a:off x="548640" y="3236976"/>
            <a:ext cx="384048" cy="384048"/>
          </a:xfrm>
          <a:prstGeom prst="rect">
            <a:avLst/>
          </a:prstGeom>
          <a:solidFill>
            <a:srgbClr val="1E2761"/>
          </a:solidFill>
          <a:ln/>
        </p:spPr>
      </p:sp>
      <p:sp>
        <p:nvSpPr>
          <p:cNvPr id="12" name="Text 10"/>
          <p:cNvSpPr/>
          <p:nvPr/>
        </p:nvSpPr>
        <p:spPr>
          <a:xfrm>
            <a:off x="548640" y="3236976"/>
            <a:ext cx="38404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RQ3</a:t>
            </a:r>
            <a:endParaRPr lang="en-US" sz="900" dirty="0"/>
          </a:p>
        </p:txBody>
      </p:sp>
      <p:sp>
        <p:nvSpPr>
          <p:cNvPr id="13" name="Text 11"/>
          <p:cNvSpPr/>
          <p:nvPr/>
        </p:nvSpPr>
        <p:spPr>
          <a:xfrm>
            <a:off x="1051560" y="3218688"/>
            <a:ext cx="5394960" cy="548640"/>
          </a:xfrm>
          <a:prstGeom prst="rect">
            <a:avLst/>
          </a:prstGeom>
          <a:noFill/>
          <a:ln/>
        </p:spPr>
        <p:txBody>
          <a:bodyPr wrap="square" rtlCol="0" anchor="ctr"/>
          <a:lstStyle/>
          <a:p>
            <a:pPr marL="0" indent="0">
              <a:lnSpc>
                <a:spcPct val="100000"/>
              </a:lnSpc>
              <a:buNone/>
            </a:pPr>
            <a:r>
              <a:rPr lang="en-US" sz="1200" dirty="0">
                <a:solidFill>
                  <a:srgbClr val="27314D"/>
                </a:solidFill>
                <a:latin typeface="Calibri" pitchFamily="34" charset="0"/>
                <a:ea typeface="Calibri" pitchFamily="34" charset="-122"/>
                <a:cs typeface="Calibri" pitchFamily="34" charset="-120"/>
              </a:rPr>
              <a:t>Nghề nào là vùng xung đột cần ưu tiên can thiệp?</a:t>
            </a:r>
            <a:endParaRPr lang="en-US" sz="1200" dirty="0"/>
          </a:p>
        </p:txBody>
      </p:sp>
      <p:sp>
        <p:nvSpPr>
          <p:cNvPr id="14" name="Shape 12"/>
          <p:cNvSpPr/>
          <p:nvPr/>
        </p:nvSpPr>
        <p:spPr>
          <a:xfrm>
            <a:off x="548640" y="3941064"/>
            <a:ext cx="384048" cy="384048"/>
          </a:xfrm>
          <a:prstGeom prst="rect">
            <a:avLst/>
          </a:prstGeom>
          <a:solidFill>
            <a:srgbClr val="1E2761"/>
          </a:solidFill>
          <a:ln/>
        </p:spPr>
      </p:sp>
      <p:sp>
        <p:nvSpPr>
          <p:cNvPr id="15" name="Text 13"/>
          <p:cNvSpPr/>
          <p:nvPr/>
        </p:nvSpPr>
        <p:spPr>
          <a:xfrm>
            <a:off x="548640" y="3941064"/>
            <a:ext cx="38404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RQ4</a:t>
            </a:r>
            <a:endParaRPr lang="en-US" sz="900" dirty="0"/>
          </a:p>
        </p:txBody>
      </p:sp>
      <p:sp>
        <p:nvSpPr>
          <p:cNvPr id="16" name="Text 14"/>
          <p:cNvSpPr/>
          <p:nvPr/>
        </p:nvSpPr>
        <p:spPr>
          <a:xfrm>
            <a:off x="1051560" y="3922776"/>
            <a:ext cx="5394960" cy="548640"/>
          </a:xfrm>
          <a:prstGeom prst="rect">
            <a:avLst/>
          </a:prstGeom>
          <a:noFill/>
          <a:ln/>
        </p:spPr>
        <p:txBody>
          <a:bodyPr wrap="square" rtlCol="0" anchor="ctr"/>
          <a:lstStyle/>
          <a:p>
            <a:pPr marL="0" indent="0">
              <a:lnSpc>
                <a:spcPct val="100000"/>
              </a:lnSpc>
              <a:buNone/>
            </a:pPr>
            <a:r>
              <a:rPr lang="en-US" sz="1200" dirty="0">
                <a:solidFill>
                  <a:srgbClr val="27314D"/>
                </a:solidFill>
                <a:latin typeface="Calibri" pitchFamily="34" charset="0"/>
                <a:ea typeface="Calibri" pitchFamily="34" charset="-122"/>
                <a:cs typeface="Calibri" pitchFamily="34" charset="-120"/>
              </a:rPr>
              <a:t>Ngành nghề nào nên ưu tiên đầu tư AI để tối đa hoá giá trị kinh tế?</a:t>
            </a:r>
            <a:endParaRPr lang="en-US" sz="1200" dirty="0"/>
          </a:p>
        </p:txBody>
      </p:sp>
      <p:sp>
        <p:nvSpPr>
          <p:cNvPr id="17" name="Shape 15"/>
          <p:cNvSpPr/>
          <p:nvPr/>
        </p:nvSpPr>
        <p:spPr>
          <a:xfrm>
            <a:off x="548640" y="4645152"/>
            <a:ext cx="384048" cy="384048"/>
          </a:xfrm>
          <a:prstGeom prst="rect">
            <a:avLst/>
          </a:prstGeom>
          <a:solidFill>
            <a:srgbClr val="1E2761"/>
          </a:solidFill>
          <a:ln/>
        </p:spPr>
      </p:sp>
      <p:sp>
        <p:nvSpPr>
          <p:cNvPr id="18" name="Text 16"/>
          <p:cNvSpPr/>
          <p:nvPr/>
        </p:nvSpPr>
        <p:spPr>
          <a:xfrm>
            <a:off x="548640" y="4645152"/>
            <a:ext cx="38404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RQ5</a:t>
            </a:r>
            <a:endParaRPr lang="en-US" sz="900" dirty="0"/>
          </a:p>
        </p:txBody>
      </p:sp>
      <p:sp>
        <p:nvSpPr>
          <p:cNvPr id="19" name="Text 17"/>
          <p:cNvSpPr/>
          <p:nvPr/>
        </p:nvSpPr>
        <p:spPr>
          <a:xfrm>
            <a:off x="1051560" y="4626864"/>
            <a:ext cx="5394960" cy="548640"/>
          </a:xfrm>
          <a:prstGeom prst="rect">
            <a:avLst/>
          </a:prstGeom>
          <a:noFill/>
          <a:ln/>
        </p:spPr>
        <p:txBody>
          <a:bodyPr wrap="square" rtlCol="0" anchor="ctr"/>
          <a:lstStyle/>
          <a:p>
            <a:pPr marL="0" indent="0">
              <a:lnSpc>
                <a:spcPct val="100000"/>
              </a:lnSpc>
              <a:buNone/>
            </a:pPr>
            <a:r>
              <a:rPr lang="en-US" sz="1200" dirty="0">
                <a:solidFill>
                  <a:srgbClr val="27314D"/>
                </a:solidFill>
                <a:latin typeface="Calibri" pitchFamily="34" charset="0"/>
                <a:ea typeface="Calibri" pitchFamily="34" charset="-122"/>
                <a:cs typeface="Calibri" pitchFamily="34" charset="-120"/>
              </a:rPr>
              <a:t>Ngành nghề nào chịu rủi ro cao nhất từ chuyển đổi AI?</a:t>
            </a:r>
            <a:endParaRPr lang="en-US" sz="1200" dirty="0"/>
          </a:p>
        </p:txBody>
      </p:sp>
      <p:sp>
        <p:nvSpPr>
          <p:cNvPr id="20" name="Shape 18"/>
          <p:cNvSpPr/>
          <p:nvPr/>
        </p:nvSpPr>
        <p:spPr>
          <a:xfrm>
            <a:off x="548640" y="5349240"/>
            <a:ext cx="384048" cy="384048"/>
          </a:xfrm>
          <a:prstGeom prst="rect">
            <a:avLst/>
          </a:prstGeom>
          <a:solidFill>
            <a:srgbClr val="1E2761"/>
          </a:solidFill>
          <a:ln/>
        </p:spPr>
      </p:sp>
      <p:sp>
        <p:nvSpPr>
          <p:cNvPr id="21" name="Text 19"/>
          <p:cNvSpPr/>
          <p:nvPr/>
        </p:nvSpPr>
        <p:spPr>
          <a:xfrm>
            <a:off x="548640" y="5349240"/>
            <a:ext cx="38404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RQ6</a:t>
            </a:r>
            <a:endParaRPr lang="en-US" sz="900" dirty="0"/>
          </a:p>
        </p:txBody>
      </p:sp>
      <p:sp>
        <p:nvSpPr>
          <p:cNvPr id="22" name="Text 20"/>
          <p:cNvSpPr/>
          <p:nvPr/>
        </p:nvSpPr>
        <p:spPr>
          <a:xfrm>
            <a:off x="1051560" y="5330952"/>
            <a:ext cx="5394960" cy="548640"/>
          </a:xfrm>
          <a:prstGeom prst="rect">
            <a:avLst/>
          </a:prstGeom>
          <a:noFill/>
          <a:ln/>
        </p:spPr>
        <p:txBody>
          <a:bodyPr wrap="square" rtlCol="0" anchor="ctr"/>
          <a:lstStyle/>
          <a:p>
            <a:pPr marL="0" indent="0">
              <a:lnSpc>
                <a:spcPct val="100000"/>
              </a:lnSpc>
              <a:buNone/>
            </a:pPr>
            <a:r>
              <a:rPr lang="en-US" sz="1200" dirty="0">
                <a:solidFill>
                  <a:srgbClr val="27314D"/>
                </a:solidFill>
                <a:latin typeface="Calibri" pitchFamily="34" charset="0"/>
                <a:ea typeface="Calibri" pitchFamily="34" charset="-122"/>
                <a:cs typeface="Calibri" pitchFamily="34" charset="-120"/>
              </a:rPr>
              <a:t>Tổ chức nên chuẩn bị nhân lực, hạ tầng, chính sách ra sao?</a:t>
            </a:r>
            <a:endParaRPr lang="en-US" sz="1200" dirty="0"/>
          </a:p>
        </p:txBody>
      </p:sp>
      <p:sp>
        <p:nvSpPr>
          <p:cNvPr id="23" name="Shape 21"/>
          <p:cNvSpPr/>
          <p:nvPr/>
        </p:nvSpPr>
        <p:spPr>
          <a:xfrm>
            <a:off x="6903720" y="1417320"/>
            <a:ext cx="4754880" cy="5074920"/>
          </a:xfrm>
          <a:prstGeom prst="rect">
            <a:avLst/>
          </a:prstGeom>
          <a:solidFill>
            <a:srgbClr val="F4F5FA"/>
          </a:solidFill>
          <a:ln/>
        </p:spPr>
      </p:sp>
      <p:sp>
        <p:nvSpPr>
          <p:cNvPr id="24" name="Text 22"/>
          <p:cNvSpPr/>
          <p:nvPr/>
        </p:nvSpPr>
        <p:spPr>
          <a:xfrm>
            <a:off x="7178040" y="1600200"/>
            <a:ext cx="42062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BỘ DỮ LIỆU NGHIÊN CỨU</a:t>
            </a:r>
            <a:endParaRPr lang="en-US" sz="1300" dirty="0"/>
          </a:p>
        </p:txBody>
      </p:sp>
      <p:sp>
        <p:nvSpPr>
          <p:cNvPr id="25" name="Text 23"/>
          <p:cNvSpPr/>
          <p:nvPr/>
        </p:nvSpPr>
        <p:spPr>
          <a:xfrm>
            <a:off x="7178040" y="2011680"/>
            <a:ext cx="4206240" cy="1005840"/>
          </a:xfrm>
          <a:prstGeom prst="rect">
            <a:avLst/>
          </a:prstGeom>
          <a:noFill/>
          <a:ln/>
        </p:spPr>
        <p:txBody>
          <a:bodyPr wrap="square" rtlCol="0" anchor="ctr"/>
          <a:lstStyle/>
          <a:p>
            <a:pPr marL="0" indent="0">
              <a:lnSpc>
                <a:spcPct val="115000"/>
              </a:lnSpc>
              <a:spcAft>
                <a:spcPts val="600"/>
              </a:spcAft>
              <a:buNone/>
            </a:pPr>
            <a:r>
              <a:rPr lang="en-US" sz="1200" b="1" dirty="0">
                <a:solidFill>
                  <a:srgbClr val="1E2761"/>
                </a:solidFill>
                <a:latin typeface="Calibri" pitchFamily="34" charset="0"/>
                <a:ea typeface="Calibri" pitchFamily="34" charset="-122"/>
                <a:cs typeface="Calibri" pitchFamily="34" charset="-120"/>
              </a:rPr>
              <a:t>Nguồn gốc: </a:t>
            </a:r>
            <a:r>
              <a:rPr lang="en-US" sz="1200" dirty="0">
                <a:solidFill>
                  <a:srgbClr val="27314D"/>
                </a:solidFill>
                <a:latin typeface="Calibri" pitchFamily="34" charset="0"/>
                <a:ea typeface="Calibri" pitchFamily="34" charset="-122"/>
                <a:cs typeface="Calibri" pitchFamily="34" charset="-120"/>
              </a:rPr>
              <a:t>O*NET — dữ liệu cấp tác vụ (task-level), kiến trúc nhiều lớp: Task-level → Expert ratings → Worker desire → Occupation aggregate.</a:t>
            </a:r>
            <a:endParaRPr lang="en-US" sz="1200" dirty="0"/>
          </a:p>
        </p:txBody>
      </p:sp>
      <p:sp>
        <p:nvSpPr>
          <p:cNvPr id="26" name="Shape 24"/>
          <p:cNvSpPr/>
          <p:nvPr/>
        </p:nvSpPr>
        <p:spPr>
          <a:xfrm>
            <a:off x="7178040" y="3063240"/>
            <a:ext cx="4206240" cy="0"/>
          </a:xfrm>
          <a:prstGeom prst="line">
            <a:avLst/>
          </a:prstGeom>
          <a:noFill/>
          <a:ln w="12700">
            <a:solidFill>
              <a:srgbClr val="CADCFC"/>
            </a:solidFill>
            <a:prstDash val="solid"/>
          </a:ln>
        </p:spPr>
      </p:sp>
      <p:sp>
        <p:nvSpPr>
          <p:cNvPr id="27" name="Text 25"/>
          <p:cNvSpPr/>
          <p:nvPr/>
        </p:nvSpPr>
        <p:spPr>
          <a:xfrm>
            <a:off x="7178040" y="3200400"/>
            <a:ext cx="4206240" cy="685800"/>
          </a:xfrm>
          <a:prstGeom prst="rect">
            <a:avLst/>
          </a:prstGeom>
          <a:noFill/>
          <a:ln/>
        </p:spPr>
        <p:txBody>
          <a:bodyPr wrap="square" rtlCol="0" anchor="ctr"/>
          <a:lstStyle/>
          <a:p>
            <a:pPr marL="0" indent="0">
              <a:buNone/>
            </a:pPr>
            <a:r>
              <a:rPr lang="en-US" sz="3000" b="1" dirty="0">
                <a:solidFill>
                  <a:srgbClr val="D9A441"/>
                </a:solidFill>
                <a:latin typeface="Cambria" pitchFamily="34" charset="0"/>
                <a:ea typeface="Cambria" pitchFamily="34" charset="-122"/>
                <a:cs typeface="Cambria" pitchFamily="34" charset="-120"/>
              </a:rPr>
              <a:t>34</a:t>
            </a:r>
            <a:r>
              <a:rPr lang="en-US" sz="1200" dirty="0">
                <a:solidFill>
                  <a:srgbClr val="27314D"/>
                </a:solidFill>
                <a:latin typeface="Calibri" pitchFamily="34" charset="0"/>
                <a:ea typeface="Calibri" pitchFamily="34" charset="-122"/>
                <a:cs typeface="Calibri" pitchFamily="34" charset="-120"/>
              </a:rPr>
              <a:t>  nghề nghiệp thuộc Management &amp; Business-Financial Operations</a:t>
            </a:r>
            <a:endParaRPr lang="en-US" sz="3000" dirty="0"/>
          </a:p>
        </p:txBody>
      </p:sp>
      <p:sp>
        <p:nvSpPr>
          <p:cNvPr id="28" name="Shape 26"/>
          <p:cNvSpPr/>
          <p:nvPr/>
        </p:nvSpPr>
        <p:spPr>
          <a:xfrm>
            <a:off x="7178040" y="3977640"/>
            <a:ext cx="4206240" cy="0"/>
          </a:xfrm>
          <a:prstGeom prst="line">
            <a:avLst/>
          </a:prstGeom>
          <a:noFill/>
          <a:ln w="12700">
            <a:solidFill>
              <a:srgbClr val="CADCFC"/>
            </a:solidFill>
            <a:prstDash val="solid"/>
          </a:ln>
        </p:spPr>
      </p:sp>
      <p:sp>
        <p:nvSpPr>
          <p:cNvPr id="29" name="Text 27"/>
          <p:cNvSpPr/>
          <p:nvPr/>
        </p:nvSpPr>
        <p:spPr>
          <a:xfrm>
            <a:off x="7178040" y="4096512"/>
            <a:ext cx="420624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Output: final_consolidated_output.csv</a:t>
            </a:r>
            <a:endParaRPr lang="en-US" sz="1200" dirty="0"/>
          </a:p>
        </p:txBody>
      </p:sp>
      <p:sp>
        <p:nvSpPr>
          <p:cNvPr id="30" name="Text 28"/>
          <p:cNvSpPr/>
          <p:nvPr/>
        </p:nvSpPr>
        <p:spPr>
          <a:xfrm>
            <a:off x="7178040" y="4389120"/>
            <a:ext cx="4206240" cy="1737360"/>
          </a:xfrm>
          <a:prstGeom prst="rect">
            <a:avLst/>
          </a:prstGeom>
          <a:noFill/>
          <a:ln/>
        </p:spPr>
        <p:txBody>
          <a:bodyPr wrap="square" rtlCol="0" anchor="ctr"/>
          <a:lstStyle/>
          <a:p>
            <a:pPr marL="0" indent="0">
              <a:lnSpc>
                <a:spcPct val="120000"/>
              </a:lnSpc>
              <a:buNone/>
            </a:pPr>
            <a:r>
              <a:rPr lang="en-US" sz="1150" dirty="0">
                <a:solidFill>
                  <a:srgbClr val="27314D"/>
                </a:solidFill>
                <a:latin typeface="Calibri" pitchFamily="34" charset="0"/>
                <a:ea typeface="Calibri" pitchFamily="34" charset="-122"/>
                <a:cs typeface="Calibri" pitchFamily="34" charset="-120"/>
              </a:rPr>
              <a:t>Cap · Read · CI · WEI · PEI · EE · AIPS · WFI, các phiên bản chuẩn hoá (norm) và hiệu chỉnh theo bối cảnh Việt Nam (_VN), cùng nhãn Recommendation / Quadrant / Transformation Strategy.</a:t>
            </a:r>
            <a:endParaRPr lang="en-US" sz="1150" dirty="0"/>
          </a:p>
        </p:txBody>
      </p:sp>
      <p:sp>
        <p:nvSpPr>
          <p:cNvPr id="31" name="Text 29"/>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32" name="Text 30"/>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2 · TIỀN XỬ LÝ DỮ LIỆU</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Quy trình xử lý &amp; Chuẩn hoá dữ liệu</a:t>
            </a:r>
            <a:endParaRPr lang="en-US" sz="3000" dirty="0"/>
          </a:p>
        </p:txBody>
      </p:sp>
      <p:sp>
        <p:nvSpPr>
          <p:cNvPr id="4" name="Shape 2"/>
          <p:cNvSpPr/>
          <p:nvPr/>
        </p:nvSpPr>
        <p:spPr>
          <a:xfrm>
            <a:off x="548640" y="1874520"/>
            <a:ext cx="2035454" cy="2331720"/>
          </a:xfrm>
          <a:prstGeom prst="rect">
            <a:avLst/>
          </a:prstGeom>
          <a:solidFill>
            <a:srgbClr val="F4F5FA"/>
          </a:solidFill>
          <a:ln/>
        </p:spPr>
      </p:sp>
      <p:sp>
        <p:nvSpPr>
          <p:cNvPr id="5" name="Shape 3"/>
          <p:cNvSpPr/>
          <p:nvPr/>
        </p:nvSpPr>
        <p:spPr>
          <a:xfrm>
            <a:off x="1310335" y="2130552"/>
            <a:ext cx="512064" cy="512064"/>
          </a:xfrm>
          <a:prstGeom prst="ellipse">
            <a:avLst/>
          </a:prstGeom>
          <a:solidFill>
            <a:srgbClr val="1E2761"/>
          </a:solidFill>
          <a:ln/>
        </p:spPr>
      </p:sp>
      <p:sp>
        <p:nvSpPr>
          <p:cNvPr id="6" name="Text 4"/>
          <p:cNvSpPr/>
          <p:nvPr/>
        </p:nvSpPr>
        <p:spPr>
          <a:xfrm>
            <a:off x="1310335" y="2130552"/>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685800" y="2788920"/>
            <a:ext cx="1761134" cy="365760"/>
          </a:xfrm>
          <a:prstGeom prst="rect">
            <a:avLst/>
          </a:prstGeom>
          <a:noFill/>
          <a:ln/>
        </p:spPr>
        <p:txBody>
          <a:bodyPr wrap="square" rtlCol="0" anchor="ctr"/>
          <a:lstStyle/>
          <a:p>
            <a:pPr marL="0" indent="0" algn="ctr">
              <a:buNone/>
            </a:pPr>
            <a:r>
              <a:rPr lang="en-US" sz="1450" b="1" dirty="0">
                <a:solidFill>
                  <a:srgbClr val="1E2761"/>
                </a:solidFill>
                <a:latin typeface="Cambria" pitchFamily="34" charset="0"/>
                <a:ea typeface="Cambria" pitchFamily="34" charset="-122"/>
                <a:cs typeface="Cambria" pitchFamily="34" charset="-120"/>
              </a:rPr>
              <a:t>EDA</a:t>
            </a:r>
            <a:endParaRPr lang="en-US" sz="1450" dirty="0"/>
          </a:p>
        </p:txBody>
      </p:sp>
      <p:sp>
        <p:nvSpPr>
          <p:cNvPr id="8" name="Text 6"/>
          <p:cNvSpPr/>
          <p:nvPr/>
        </p:nvSpPr>
        <p:spPr>
          <a:xfrm>
            <a:off x="685800" y="3172968"/>
            <a:ext cx="1761134" cy="960120"/>
          </a:xfrm>
          <a:prstGeom prst="rect">
            <a:avLst/>
          </a:prstGeom>
          <a:noFill/>
          <a:ln/>
        </p:spPr>
        <p:txBody>
          <a:bodyPr wrap="square" rtlCol="0" anchor="ctr"/>
          <a:lstStyle/>
          <a:p>
            <a:pPr marL="0" indent="0" algn="ctr">
              <a:lnSpc>
                <a:spcPct val="105000"/>
              </a:lnSpc>
              <a:buNone/>
            </a:pPr>
            <a:r>
              <a:rPr lang="en-US" sz="1050" dirty="0">
                <a:solidFill>
                  <a:srgbClr val="27314D"/>
                </a:solidFill>
                <a:latin typeface="Calibri" pitchFamily="34" charset="0"/>
                <a:ea typeface="Calibri" pitchFamily="34" charset="-122"/>
                <a:cs typeface="Calibri" pitchFamily="34" charset="-120"/>
              </a:rPr>
              <a:t>Khảo sát &amp; kiểm định chất lượng dữ liệu ban đầu</a:t>
            </a:r>
            <a:endParaRPr lang="en-US" sz="1050" dirty="0"/>
          </a:p>
        </p:txBody>
      </p:sp>
      <p:sp>
        <p:nvSpPr>
          <p:cNvPr id="9" name="Text 7"/>
          <p:cNvSpPr/>
          <p:nvPr/>
        </p:nvSpPr>
        <p:spPr>
          <a:xfrm>
            <a:off x="2584094" y="2811780"/>
            <a:ext cx="228600" cy="457200"/>
          </a:xfrm>
          <a:prstGeom prst="rect">
            <a:avLst/>
          </a:prstGeom>
          <a:noFill/>
          <a:ln/>
        </p:spPr>
        <p:txBody>
          <a:bodyPr wrap="square" rtlCol="0" anchor="ctr"/>
          <a:lstStyle/>
          <a:p>
            <a:pPr marL="0" indent="0" algn="ctr">
              <a:buNone/>
            </a:pPr>
            <a:r>
              <a:rPr lang="en-US" sz="1800" b="1" dirty="0">
                <a:solidFill>
                  <a:srgbClr val="D9A441"/>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812694" y="1874520"/>
            <a:ext cx="2035454" cy="2331720"/>
          </a:xfrm>
          <a:prstGeom prst="rect">
            <a:avLst/>
          </a:prstGeom>
          <a:solidFill>
            <a:srgbClr val="F4F5FA"/>
          </a:solidFill>
          <a:ln/>
        </p:spPr>
      </p:sp>
      <p:sp>
        <p:nvSpPr>
          <p:cNvPr id="11" name="Shape 9"/>
          <p:cNvSpPr/>
          <p:nvPr/>
        </p:nvSpPr>
        <p:spPr>
          <a:xfrm>
            <a:off x="3574390" y="2130552"/>
            <a:ext cx="512064" cy="512064"/>
          </a:xfrm>
          <a:prstGeom prst="ellipse">
            <a:avLst/>
          </a:prstGeom>
          <a:solidFill>
            <a:srgbClr val="1E2761"/>
          </a:solidFill>
          <a:ln/>
        </p:spPr>
      </p:sp>
      <p:sp>
        <p:nvSpPr>
          <p:cNvPr id="12" name="Text 10"/>
          <p:cNvSpPr/>
          <p:nvPr/>
        </p:nvSpPr>
        <p:spPr>
          <a:xfrm>
            <a:off x="3574390" y="2130552"/>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949854" y="2788920"/>
            <a:ext cx="1761134" cy="365760"/>
          </a:xfrm>
          <a:prstGeom prst="rect">
            <a:avLst/>
          </a:prstGeom>
          <a:noFill/>
          <a:ln/>
        </p:spPr>
        <p:txBody>
          <a:bodyPr wrap="square" rtlCol="0" anchor="ctr"/>
          <a:lstStyle/>
          <a:p>
            <a:pPr marL="0" indent="0" algn="ctr">
              <a:buNone/>
            </a:pPr>
            <a:r>
              <a:rPr lang="en-US" sz="1450" b="1" dirty="0">
                <a:solidFill>
                  <a:srgbClr val="1E2761"/>
                </a:solidFill>
                <a:latin typeface="Cambria" pitchFamily="34" charset="0"/>
                <a:ea typeface="Cambria" pitchFamily="34" charset="-122"/>
                <a:cs typeface="Cambria" pitchFamily="34" charset="-120"/>
              </a:rPr>
              <a:t>Làm sạch</a:t>
            </a:r>
            <a:endParaRPr lang="en-US" sz="1450" dirty="0"/>
          </a:p>
        </p:txBody>
      </p:sp>
      <p:sp>
        <p:nvSpPr>
          <p:cNvPr id="14" name="Text 12"/>
          <p:cNvSpPr/>
          <p:nvPr/>
        </p:nvSpPr>
        <p:spPr>
          <a:xfrm>
            <a:off x="2949854" y="3172968"/>
            <a:ext cx="1761134" cy="960120"/>
          </a:xfrm>
          <a:prstGeom prst="rect">
            <a:avLst/>
          </a:prstGeom>
          <a:noFill/>
          <a:ln/>
        </p:spPr>
        <p:txBody>
          <a:bodyPr wrap="square" rtlCol="0" anchor="ctr"/>
          <a:lstStyle/>
          <a:p>
            <a:pPr marL="0" indent="0" algn="ctr">
              <a:lnSpc>
                <a:spcPct val="105000"/>
              </a:lnSpc>
              <a:buNone/>
            </a:pPr>
            <a:r>
              <a:rPr lang="en-US" sz="1050" dirty="0">
                <a:solidFill>
                  <a:srgbClr val="27314D"/>
                </a:solidFill>
                <a:latin typeface="Calibri" pitchFamily="34" charset="0"/>
                <a:ea typeface="Calibri" pitchFamily="34" charset="-122"/>
                <a:cs typeface="Calibri" pitchFamily="34" charset="-120"/>
              </a:rPr>
              <a:t>Chuẩn hoá kiểu dữ liệu, xử lý khuyết thiếu</a:t>
            </a:r>
            <a:endParaRPr lang="en-US" sz="1050" dirty="0"/>
          </a:p>
        </p:txBody>
      </p:sp>
      <p:sp>
        <p:nvSpPr>
          <p:cNvPr id="15" name="Text 13"/>
          <p:cNvSpPr/>
          <p:nvPr/>
        </p:nvSpPr>
        <p:spPr>
          <a:xfrm>
            <a:off x="4848149" y="2811780"/>
            <a:ext cx="228600" cy="457200"/>
          </a:xfrm>
          <a:prstGeom prst="rect">
            <a:avLst/>
          </a:prstGeom>
          <a:noFill/>
          <a:ln/>
        </p:spPr>
        <p:txBody>
          <a:bodyPr wrap="square" rtlCol="0" anchor="ctr"/>
          <a:lstStyle/>
          <a:p>
            <a:pPr marL="0" indent="0" algn="ctr">
              <a:buNone/>
            </a:pPr>
            <a:r>
              <a:rPr lang="en-US" sz="1800" b="1" dirty="0">
                <a:solidFill>
                  <a:srgbClr val="D9A441"/>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076749" y="1874520"/>
            <a:ext cx="2035454" cy="2331720"/>
          </a:xfrm>
          <a:prstGeom prst="rect">
            <a:avLst/>
          </a:prstGeom>
          <a:solidFill>
            <a:srgbClr val="F4F5FA"/>
          </a:solidFill>
          <a:ln/>
        </p:spPr>
      </p:sp>
      <p:sp>
        <p:nvSpPr>
          <p:cNvPr id="17" name="Shape 15"/>
          <p:cNvSpPr/>
          <p:nvPr/>
        </p:nvSpPr>
        <p:spPr>
          <a:xfrm>
            <a:off x="5838444" y="2130552"/>
            <a:ext cx="512064" cy="512064"/>
          </a:xfrm>
          <a:prstGeom prst="ellipse">
            <a:avLst/>
          </a:prstGeom>
          <a:solidFill>
            <a:srgbClr val="1E2761"/>
          </a:solidFill>
          <a:ln/>
        </p:spPr>
      </p:sp>
      <p:sp>
        <p:nvSpPr>
          <p:cNvPr id="18" name="Text 16"/>
          <p:cNvSpPr/>
          <p:nvPr/>
        </p:nvSpPr>
        <p:spPr>
          <a:xfrm>
            <a:off x="5838444" y="2130552"/>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5213909" y="2788920"/>
            <a:ext cx="1761134" cy="365760"/>
          </a:xfrm>
          <a:prstGeom prst="rect">
            <a:avLst/>
          </a:prstGeom>
          <a:noFill/>
          <a:ln/>
        </p:spPr>
        <p:txBody>
          <a:bodyPr wrap="square" rtlCol="0" anchor="ctr"/>
          <a:lstStyle/>
          <a:p>
            <a:pPr marL="0" indent="0" algn="ctr">
              <a:buNone/>
            </a:pPr>
            <a:r>
              <a:rPr lang="en-US" sz="1450" b="1" dirty="0">
                <a:solidFill>
                  <a:srgbClr val="1E2761"/>
                </a:solidFill>
                <a:latin typeface="Cambria" pitchFamily="34" charset="0"/>
                <a:ea typeface="Cambria" pitchFamily="34" charset="-122"/>
                <a:cs typeface="Cambria" pitchFamily="34" charset="-120"/>
              </a:rPr>
              <a:t>Tích hợp</a:t>
            </a:r>
            <a:endParaRPr lang="en-US" sz="1450" dirty="0"/>
          </a:p>
        </p:txBody>
      </p:sp>
      <p:sp>
        <p:nvSpPr>
          <p:cNvPr id="20" name="Text 18"/>
          <p:cNvSpPr/>
          <p:nvPr/>
        </p:nvSpPr>
        <p:spPr>
          <a:xfrm>
            <a:off x="5213909" y="3172968"/>
            <a:ext cx="1761134" cy="960120"/>
          </a:xfrm>
          <a:prstGeom prst="rect">
            <a:avLst/>
          </a:prstGeom>
          <a:noFill/>
          <a:ln/>
        </p:spPr>
        <p:txBody>
          <a:bodyPr wrap="square" rtlCol="0" anchor="ctr"/>
          <a:lstStyle/>
          <a:p>
            <a:pPr marL="0" indent="0" algn="ctr">
              <a:lnSpc>
                <a:spcPct val="105000"/>
              </a:lnSpc>
              <a:buNone/>
            </a:pPr>
            <a:r>
              <a:rPr lang="en-US" sz="1050" dirty="0">
                <a:solidFill>
                  <a:srgbClr val="27314D"/>
                </a:solidFill>
                <a:latin typeface="Calibri" pitchFamily="34" charset="0"/>
                <a:ea typeface="Calibri" pitchFamily="34" charset="-122"/>
                <a:cs typeface="Calibri" pitchFamily="34" charset="-120"/>
              </a:rPr>
              <a:t>Ghép nối đa nguồn, lọc theo nhóm ngành mục tiêu</a:t>
            </a:r>
            <a:endParaRPr lang="en-US" sz="1050" dirty="0"/>
          </a:p>
        </p:txBody>
      </p:sp>
      <p:sp>
        <p:nvSpPr>
          <p:cNvPr id="21" name="Text 19"/>
          <p:cNvSpPr/>
          <p:nvPr/>
        </p:nvSpPr>
        <p:spPr>
          <a:xfrm>
            <a:off x="7112203" y="2811780"/>
            <a:ext cx="228600" cy="457200"/>
          </a:xfrm>
          <a:prstGeom prst="rect">
            <a:avLst/>
          </a:prstGeom>
          <a:noFill/>
          <a:ln/>
        </p:spPr>
        <p:txBody>
          <a:bodyPr wrap="square" rtlCol="0" anchor="ctr"/>
          <a:lstStyle/>
          <a:p>
            <a:pPr marL="0" indent="0" algn="ctr">
              <a:buNone/>
            </a:pPr>
            <a:r>
              <a:rPr lang="en-US" sz="1800" b="1" dirty="0">
                <a:solidFill>
                  <a:srgbClr val="D9A441"/>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7340803" y="1874520"/>
            <a:ext cx="2035454" cy="2331720"/>
          </a:xfrm>
          <a:prstGeom prst="rect">
            <a:avLst/>
          </a:prstGeom>
          <a:solidFill>
            <a:srgbClr val="F4F5FA"/>
          </a:solidFill>
          <a:ln/>
        </p:spPr>
      </p:sp>
      <p:sp>
        <p:nvSpPr>
          <p:cNvPr id="23" name="Shape 21"/>
          <p:cNvSpPr/>
          <p:nvPr/>
        </p:nvSpPr>
        <p:spPr>
          <a:xfrm>
            <a:off x="8102498" y="2130552"/>
            <a:ext cx="512064" cy="512064"/>
          </a:xfrm>
          <a:prstGeom prst="ellipse">
            <a:avLst/>
          </a:prstGeom>
          <a:solidFill>
            <a:srgbClr val="1E2761"/>
          </a:solidFill>
          <a:ln/>
        </p:spPr>
      </p:sp>
      <p:sp>
        <p:nvSpPr>
          <p:cNvPr id="24" name="Text 22"/>
          <p:cNvSpPr/>
          <p:nvPr/>
        </p:nvSpPr>
        <p:spPr>
          <a:xfrm>
            <a:off x="8102498" y="2130552"/>
            <a:ext cx="512064" cy="512064"/>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7477963" y="2788920"/>
            <a:ext cx="1761134" cy="365760"/>
          </a:xfrm>
          <a:prstGeom prst="rect">
            <a:avLst/>
          </a:prstGeom>
          <a:noFill/>
          <a:ln/>
        </p:spPr>
        <p:txBody>
          <a:bodyPr wrap="square" rtlCol="0" anchor="ctr"/>
          <a:lstStyle/>
          <a:p>
            <a:pPr marL="0" indent="0" algn="ctr">
              <a:buNone/>
            </a:pPr>
            <a:r>
              <a:rPr lang="en-US" sz="1450" b="1" dirty="0">
                <a:solidFill>
                  <a:srgbClr val="1E2761"/>
                </a:solidFill>
                <a:latin typeface="Cambria" pitchFamily="34" charset="0"/>
                <a:ea typeface="Cambria" pitchFamily="34" charset="-122"/>
                <a:cs typeface="Cambria" pitchFamily="34" charset="-120"/>
              </a:rPr>
              <a:t>Chuẩn hoá</a:t>
            </a:r>
            <a:endParaRPr lang="en-US" sz="1450" dirty="0"/>
          </a:p>
        </p:txBody>
      </p:sp>
      <p:sp>
        <p:nvSpPr>
          <p:cNvPr id="26" name="Text 24"/>
          <p:cNvSpPr/>
          <p:nvPr/>
        </p:nvSpPr>
        <p:spPr>
          <a:xfrm>
            <a:off x="7477963" y="3172968"/>
            <a:ext cx="1761134" cy="960120"/>
          </a:xfrm>
          <a:prstGeom prst="rect">
            <a:avLst/>
          </a:prstGeom>
          <a:noFill/>
          <a:ln/>
        </p:spPr>
        <p:txBody>
          <a:bodyPr wrap="square" rtlCol="0" anchor="ctr"/>
          <a:lstStyle/>
          <a:p>
            <a:pPr marL="0" indent="0" algn="ctr">
              <a:lnSpc>
                <a:spcPct val="105000"/>
              </a:lnSpc>
              <a:buNone/>
            </a:pPr>
            <a:r>
              <a:rPr lang="en-US" sz="1050" dirty="0">
                <a:solidFill>
                  <a:srgbClr val="27314D"/>
                </a:solidFill>
                <a:latin typeface="Calibri" pitchFamily="34" charset="0"/>
                <a:ea typeface="Calibri" pitchFamily="34" charset="-122"/>
                <a:cs typeface="Calibri" pitchFamily="34" charset="-120"/>
              </a:rPr>
              <a:t>Min-Max Normalization về miền [0,1]</a:t>
            </a:r>
            <a:endParaRPr lang="en-US" sz="1050" dirty="0"/>
          </a:p>
        </p:txBody>
      </p:sp>
      <p:sp>
        <p:nvSpPr>
          <p:cNvPr id="27" name="Text 25"/>
          <p:cNvSpPr/>
          <p:nvPr/>
        </p:nvSpPr>
        <p:spPr>
          <a:xfrm>
            <a:off x="9376258" y="2811780"/>
            <a:ext cx="228600" cy="457200"/>
          </a:xfrm>
          <a:prstGeom prst="rect">
            <a:avLst/>
          </a:prstGeom>
          <a:noFill/>
          <a:ln/>
        </p:spPr>
        <p:txBody>
          <a:bodyPr wrap="square" rtlCol="0" anchor="ctr"/>
          <a:lstStyle/>
          <a:p>
            <a:pPr marL="0" indent="0" algn="ctr">
              <a:buNone/>
            </a:pPr>
            <a:r>
              <a:rPr lang="en-US" sz="1800" b="1" dirty="0">
                <a:solidFill>
                  <a:srgbClr val="D9A441"/>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604858" y="1874520"/>
            <a:ext cx="2035454" cy="2331720"/>
          </a:xfrm>
          <a:prstGeom prst="rect">
            <a:avLst/>
          </a:prstGeom>
          <a:solidFill>
            <a:srgbClr val="1E2761"/>
          </a:solidFill>
          <a:ln/>
        </p:spPr>
      </p:sp>
      <p:sp>
        <p:nvSpPr>
          <p:cNvPr id="29" name="Shape 27"/>
          <p:cNvSpPr/>
          <p:nvPr/>
        </p:nvSpPr>
        <p:spPr>
          <a:xfrm>
            <a:off x="10366553" y="2130552"/>
            <a:ext cx="512064" cy="512064"/>
          </a:xfrm>
          <a:prstGeom prst="ellipse">
            <a:avLst/>
          </a:prstGeom>
          <a:solidFill>
            <a:srgbClr val="D9A441"/>
          </a:solidFill>
          <a:ln/>
        </p:spPr>
      </p:sp>
      <p:sp>
        <p:nvSpPr>
          <p:cNvPr id="30" name="Text 28"/>
          <p:cNvSpPr/>
          <p:nvPr/>
        </p:nvSpPr>
        <p:spPr>
          <a:xfrm>
            <a:off x="10366553" y="2130552"/>
            <a:ext cx="512064" cy="512064"/>
          </a:xfrm>
          <a:prstGeom prst="rect">
            <a:avLst/>
          </a:prstGeom>
          <a:noFill/>
          <a:ln/>
        </p:spPr>
        <p:txBody>
          <a:bodyPr wrap="square"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9742018" y="2788920"/>
            <a:ext cx="1761134" cy="36576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Sẵn sàng</a:t>
            </a:r>
            <a:endParaRPr lang="en-US" sz="1450" dirty="0"/>
          </a:p>
        </p:txBody>
      </p:sp>
      <p:sp>
        <p:nvSpPr>
          <p:cNvPr id="32" name="Text 30"/>
          <p:cNvSpPr/>
          <p:nvPr/>
        </p:nvSpPr>
        <p:spPr>
          <a:xfrm>
            <a:off x="9742018" y="3172968"/>
            <a:ext cx="1761134" cy="960120"/>
          </a:xfrm>
          <a:prstGeom prst="rect">
            <a:avLst/>
          </a:prstGeom>
          <a:noFill/>
          <a:ln/>
        </p:spPr>
        <p:txBody>
          <a:bodyPr wrap="square" rtlCol="0" anchor="ctr"/>
          <a:lstStyle/>
          <a:p>
            <a:pPr marL="0" indent="0" algn="ctr">
              <a:lnSpc>
                <a:spcPct val="105000"/>
              </a:lnSpc>
              <a:buNone/>
            </a:pPr>
            <a:r>
              <a:rPr lang="en-US" sz="1050" dirty="0">
                <a:solidFill>
                  <a:srgbClr val="CADCFC"/>
                </a:solidFill>
                <a:latin typeface="Calibri" pitchFamily="34" charset="0"/>
                <a:ea typeface="Calibri" pitchFamily="34" charset="-122"/>
                <a:cs typeface="Calibri" pitchFamily="34" charset="-120"/>
              </a:rPr>
              <a:t>Dữ liệu cấp nghề, sẵn sàng cho Feature Engineering</a:t>
            </a:r>
            <a:endParaRPr lang="en-US" sz="1050" dirty="0"/>
          </a:p>
        </p:txBody>
      </p:sp>
      <p:sp>
        <p:nvSpPr>
          <p:cNvPr id="33" name="Shape 31"/>
          <p:cNvSpPr/>
          <p:nvPr/>
        </p:nvSpPr>
        <p:spPr>
          <a:xfrm>
            <a:off x="548640" y="4617720"/>
            <a:ext cx="11064240" cy="1417320"/>
          </a:xfrm>
          <a:prstGeom prst="rect">
            <a:avLst/>
          </a:prstGeom>
          <a:solidFill>
            <a:srgbClr val="F4F5FA"/>
          </a:solidFill>
          <a:ln/>
        </p:spPr>
      </p:sp>
      <p:sp>
        <p:nvSpPr>
          <p:cNvPr id="34" name="Text 32"/>
          <p:cNvSpPr/>
          <p:nvPr/>
        </p:nvSpPr>
        <p:spPr>
          <a:xfrm>
            <a:off x="868680" y="4800600"/>
            <a:ext cx="10424160" cy="292608"/>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QUY TRÌNH FEATURE ENGINEERING (CẤP NGHỀ)</a:t>
            </a:r>
            <a:endParaRPr lang="en-US" sz="1200" dirty="0"/>
          </a:p>
        </p:txBody>
      </p:sp>
      <p:sp>
        <p:nvSpPr>
          <p:cNvPr id="35" name="Text 33"/>
          <p:cNvSpPr/>
          <p:nvPr/>
        </p:nvSpPr>
        <p:spPr>
          <a:xfrm>
            <a:off x="868680" y="5138928"/>
            <a:ext cx="10424160" cy="685800"/>
          </a:xfrm>
          <a:prstGeom prst="rect">
            <a:avLst/>
          </a:prstGeom>
          <a:noFill/>
          <a:ln/>
        </p:spPr>
        <p:txBody>
          <a:bodyPr wrap="square" rtlCol="0" anchor="ctr"/>
          <a:lstStyle/>
          <a:p>
            <a:pPr marL="0" indent="0">
              <a:lnSpc>
                <a:spcPct val="120000"/>
              </a:lnSpc>
              <a:buNone/>
            </a:pPr>
            <a:r>
              <a:rPr lang="en-US" sz="1250" b="1" dirty="0">
                <a:solidFill>
                  <a:srgbClr val="1E2761"/>
                </a:solidFill>
                <a:latin typeface="Calibri" pitchFamily="34" charset="0"/>
                <a:ea typeface="Calibri" pitchFamily="34" charset="-122"/>
                <a:cs typeface="Calibri" pitchFamily="34" charset="-120"/>
              </a:rPr>
              <a:t>GroupBy(Occupation)</a:t>
            </a:r>
            <a:r>
              <a:rPr lang="en-US" sz="1250" dirty="0">
                <a:solidFill>
                  <a:srgbClr val="27314D"/>
                </a:solidFill>
                <a:latin typeface="Calibri" pitchFamily="34" charset="0"/>
                <a:ea typeface="Calibri" pitchFamily="34" charset="-122"/>
                <a:cs typeface="Calibri" pitchFamily="34" charset="-120"/>
              </a:rPr>
              <a:t>  — gom tác vụ cùng một nghề    </a:t>
            </a:r>
            <a:r>
              <a:rPr lang="en-US" sz="1250" b="1" dirty="0">
                <a:solidFill>
                  <a:srgbClr val="1E2761"/>
                </a:solidFill>
                <a:latin typeface="Calibri" pitchFamily="34" charset="0"/>
                <a:ea typeface="Calibri" pitchFamily="34" charset="-122"/>
                <a:cs typeface="Calibri" pitchFamily="34" charset="-120"/>
              </a:rPr>
              <a:t>→  Weighted Aggregation</a:t>
            </a:r>
            <a:r>
              <a:rPr lang="en-US" sz="1250" dirty="0">
                <a:solidFill>
                  <a:srgbClr val="27314D"/>
                </a:solidFill>
                <a:latin typeface="Calibri" pitchFamily="34" charset="0"/>
                <a:ea typeface="Calibri" pitchFamily="34" charset="-122"/>
                <a:cs typeface="Calibri" pitchFamily="34" charset="-120"/>
              </a:rPr>
              <a:t>  theo trọng số Importance    </a:t>
            </a:r>
            <a:r>
              <a:rPr lang="en-US" sz="1250" b="1" dirty="0">
                <a:solidFill>
                  <a:srgbClr val="1E2761"/>
                </a:solidFill>
                <a:latin typeface="Calibri" pitchFamily="34" charset="0"/>
                <a:ea typeface="Calibri" pitchFamily="34" charset="-122"/>
                <a:cs typeface="Calibri" pitchFamily="34" charset="-120"/>
              </a:rPr>
              <a:t>→  Min-Max Normalization</a:t>
            </a:r>
            <a:r>
              <a:rPr lang="en-US" sz="1250" dirty="0">
                <a:solidFill>
                  <a:srgbClr val="27314D"/>
                </a:solidFill>
                <a:latin typeface="Calibri" pitchFamily="34" charset="0"/>
                <a:ea typeface="Calibri" pitchFamily="34" charset="-122"/>
                <a:cs typeface="Calibri" pitchFamily="34" charset="-120"/>
              </a:rPr>
              <a:t>  đưa giá trị về [0, 1]</a:t>
            </a:r>
            <a:endParaRPr lang="en-US" sz="1250" dirty="0"/>
          </a:p>
        </p:txBody>
      </p:sp>
      <p:sp>
        <p:nvSpPr>
          <p:cNvPr id="36" name="Text 34"/>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37" name="Text 35"/>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3 · PHƯƠNG PHÁP LUẬN</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Xây dựng chỉ số Cap &amp; Read</a:t>
            </a:r>
            <a:endParaRPr lang="en-US" sz="3000" dirty="0"/>
          </a:p>
        </p:txBody>
      </p:sp>
      <p:sp>
        <p:nvSpPr>
          <p:cNvPr id="4" name="Shape 2"/>
          <p:cNvSpPr/>
          <p:nvPr/>
        </p:nvSpPr>
        <p:spPr>
          <a:xfrm>
            <a:off x="548640" y="1600200"/>
            <a:ext cx="5440680" cy="4663440"/>
          </a:xfrm>
          <a:prstGeom prst="rect">
            <a:avLst/>
          </a:prstGeom>
          <a:solidFill>
            <a:srgbClr val="F4F5FA"/>
          </a:solidFill>
          <a:ln/>
        </p:spPr>
      </p:sp>
      <p:sp>
        <p:nvSpPr>
          <p:cNvPr id="5" name="Shape 3"/>
          <p:cNvSpPr/>
          <p:nvPr/>
        </p:nvSpPr>
        <p:spPr>
          <a:xfrm>
            <a:off x="548640" y="1600200"/>
            <a:ext cx="5440680" cy="566928"/>
          </a:xfrm>
          <a:prstGeom prst="rect">
            <a:avLst/>
          </a:prstGeom>
          <a:solidFill>
            <a:srgbClr val="1E2761"/>
          </a:solidFill>
          <a:ln/>
        </p:spPr>
      </p:sp>
      <p:sp>
        <p:nvSpPr>
          <p:cNvPr id="6" name="Text 4"/>
          <p:cNvSpPr/>
          <p:nvPr/>
        </p:nvSpPr>
        <p:spPr>
          <a:xfrm>
            <a:off x="822960" y="1600200"/>
            <a:ext cx="4892040" cy="566928"/>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AI CAPABILITY — Cap</a:t>
            </a:r>
            <a:endParaRPr lang="en-US" sz="1600" dirty="0"/>
          </a:p>
        </p:txBody>
      </p:sp>
      <p:sp>
        <p:nvSpPr>
          <p:cNvPr id="7" name="Text 5"/>
          <p:cNvSpPr/>
          <p:nvPr/>
        </p:nvSpPr>
        <p:spPr>
          <a:xfrm>
            <a:off x="822960" y="2331720"/>
            <a:ext cx="4892040" cy="548640"/>
          </a:xfrm>
          <a:prstGeom prst="rect">
            <a:avLst/>
          </a:prstGeom>
          <a:noFill/>
          <a:ln/>
        </p:spPr>
        <p:txBody>
          <a:bodyPr wrap="square"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“AI có thể tự động hoá phần nào của công việc này?”</a:t>
            </a:r>
            <a:endParaRPr lang="en-US" sz="1300" dirty="0"/>
          </a:p>
        </p:txBody>
      </p:sp>
      <p:sp>
        <p:nvSpPr>
          <p:cNvPr id="8" name="Shape 6"/>
          <p:cNvSpPr/>
          <p:nvPr/>
        </p:nvSpPr>
        <p:spPr>
          <a:xfrm>
            <a:off x="822960" y="2971800"/>
            <a:ext cx="4892040" cy="1051560"/>
          </a:xfrm>
          <a:prstGeom prst="rect">
            <a:avLst/>
          </a:prstGeom>
          <a:solidFill>
            <a:srgbClr val="FFFFFF"/>
          </a:solidFill>
          <a:ln w="12700">
            <a:solidFill>
              <a:srgbClr val="CADCFC"/>
            </a:solidFill>
            <a:prstDash val="solid"/>
          </a:ln>
        </p:spPr>
      </p:sp>
      <p:sp>
        <p:nvSpPr>
          <p:cNvPr id="9" name="Text 7"/>
          <p:cNvSpPr/>
          <p:nvPr/>
        </p:nvSpPr>
        <p:spPr>
          <a:xfrm>
            <a:off x="960120" y="3044952"/>
            <a:ext cx="4617720" cy="457200"/>
          </a:xfrm>
          <a:prstGeom prst="rect">
            <a:avLst/>
          </a:prstGeom>
          <a:noFill/>
          <a:ln/>
        </p:spPr>
        <p:txBody>
          <a:bodyPr wrap="square" rtlCol="0" anchor="ctr"/>
          <a:lstStyle/>
          <a:p>
            <a:pPr marL="0" indent="0">
              <a:buNone/>
            </a:pPr>
            <a:r>
              <a:rPr lang="en-US" sz="1250" b="1" dirty="0">
                <a:solidFill>
                  <a:srgbClr val="27314D"/>
                </a:solidFill>
                <a:latin typeface="Cambria Math" pitchFamily="34" charset="0"/>
                <a:ea typeface="Cambria Math" pitchFamily="34" charset="-122"/>
                <a:cs typeface="Cambria Math" pitchFamily="34" charset="-120"/>
              </a:rPr>
              <a:t>Cap_occ = Σ (Cap_i × Importance_i) / Σ Importance_i</a:t>
            </a:r>
            <a:endParaRPr lang="en-US" sz="1250" dirty="0"/>
          </a:p>
        </p:txBody>
      </p:sp>
      <p:sp>
        <p:nvSpPr>
          <p:cNvPr id="10" name="Text 8"/>
          <p:cNvSpPr/>
          <p:nvPr/>
        </p:nvSpPr>
        <p:spPr>
          <a:xfrm>
            <a:off x="960120" y="3520440"/>
            <a:ext cx="4617720" cy="411480"/>
          </a:xfrm>
          <a:prstGeom prst="rect">
            <a:avLst/>
          </a:prstGeom>
          <a:noFill/>
          <a:ln/>
        </p:spPr>
        <p:txBody>
          <a:bodyPr wrap="square" rtlCol="0" anchor="ctr"/>
          <a:lstStyle/>
          <a:p>
            <a:pPr marL="0" indent="0">
              <a:buNone/>
            </a:pPr>
            <a:r>
              <a:rPr lang="en-US" sz="1200" i="1" dirty="0">
                <a:solidFill>
                  <a:srgbClr val="6B7280"/>
                </a:solidFill>
                <a:latin typeface="Cambria Math" pitchFamily="34" charset="0"/>
                <a:ea typeface="Cambria Math" pitchFamily="34" charset="-122"/>
                <a:cs typeface="Cambria Math" pitchFamily="34" charset="-120"/>
              </a:rPr>
              <a:t>Cap_norm = (Cap_occ − min) / (max − min)</a:t>
            </a:r>
            <a:endParaRPr lang="en-US" sz="1200" dirty="0"/>
          </a:p>
        </p:txBody>
      </p:sp>
      <p:sp>
        <p:nvSpPr>
          <p:cNvPr id="11" name="Text 9"/>
          <p:cNvSpPr/>
          <p:nvPr/>
        </p:nvSpPr>
        <p:spPr>
          <a:xfrm>
            <a:off x="822960" y="4206240"/>
            <a:ext cx="4892040" cy="1874520"/>
          </a:xfrm>
          <a:prstGeom prst="rect">
            <a:avLst/>
          </a:prstGeom>
          <a:noFill/>
          <a:ln/>
        </p:spPr>
        <p:txBody>
          <a:bodyPr wrap="square" rtlCol="0" anchor="ctr"/>
          <a:lstStyle/>
          <a:p>
            <a:pPr marL="0" indent="0">
              <a:lnSpc>
                <a:spcPct val="125000"/>
              </a:lnSpc>
              <a:buNone/>
            </a:pPr>
            <a:r>
              <a:rPr lang="en-US" sz="1200" dirty="0">
                <a:solidFill>
                  <a:srgbClr val="27314D"/>
                </a:solidFill>
                <a:latin typeface="Calibri" pitchFamily="34" charset="0"/>
                <a:ea typeface="Calibri" pitchFamily="34" charset="-122"/>
                <a:cs typeface="Calibri" pitchFamily="34" charset="-120"/>
              </a:rPr>
              <a:t>Cap càng cao → tác vụ càng lặp lại, có quy tắc rõ, dễ chuẩn hoá → tiềm năng tự động hoá lớn. Cap thấp → cần phán đoán ngữ cảnh, tương tác xã hội, trách nhiệm chuyên môn khó thay thế.</a:t>
            </a:r>
            <a:endParaRPr lang="en-US" sz="1200" dirty="0"/>
          </a:p>
        </p:txBody>
      </p:sp>
      <p:sp>
        <p:nvSpPr>
          <p:cNvPr id="12" name="Shape 10"/>
          <p:cNvSpPr/>
          <p:nvPr/>
        </p:nvSpPr>
        <p:spPr>
          <a:xfrm>
            <a:off x="6172200" y="1600200"/>
            <a:ext cx="5440680" cy="4663440"/>
          </a:xfrm>
          <a:prstGeom prst="rect">
            <a:avLst/>
          </a:prstGeom>
          <a:solidFill>
            <a:srgbClr val="F4F5FA"/>
          </a:solidFill>
          <a:ln/>
        </p:spPr>
      </p:sp>
      <p:sp>
        <p:nvSpPr>
          <p:cNvPr id="13" name="Shape 11"/>
          <p:cNvSpPr/>
          <p:nvPr/>
        </p:nvSpPr>
        <p:spPr>
          <a:xfrm>
            <a:off x="6172200" y="1600200"/>
            <a:ext cx="5440680" cy="566928"/>
          </a:xfrm>
          <a:prstGeom prst="rect">
            <a:avLst/>
          </a:prstGeom>
          <a:solidFill>
            <a:srgbClr val="1E2761"/>
          </a:solidFill>
          <a:ln/>
        </p:spPr>
      </p:sp>
      <p:sp>
        <p:nvSpPr>
          <p:cNvPr id="14" name="Text 12"/>
          <p:cNvSpPr/>
          <p:nvPr/>
        </p:nvSpPr>
        <p:spPr>
          <a:xfrm>
            <a:off x="6446520" y="1600200"/>
            <a:ext cx="4892040" cy="566928"/>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WORKER READINESS — Read</a:t>
            </a:r>
            <a:endParaRPr lang="en-US" sz="1600" dirty="0"/>
          </a:p>
        </p:txBody>
      </p:sp>
      <p:sp>
        <p:nvSpPr>
          <p:cNvPr id="15" name="Text 13"/>
          <p:cNvSpPr/>
          <p:nvPr/>
        </p:nvSpPr>
        <p:spPr>
          <a:xfrm>
            <a:off x="6446520" y="2331720"/>
            <a:ext cx="4892040" cy="548640"/>
          </a:xfrm>
          <a:prstGeom prst="rect">
            <a:avLst/>
          </a:prstGeom>
          <a:noFill/>
          <a:ln/>
        </p:spPr>
        <p:txBody>
          <a:bodyPr wrap="square"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“Con người có sẵn sàng chuyển giao tác vụ cho AI?”</a:t>
            </a:r>
            <a:endParaRPr lang="en-US" sz="1300" dirty="0"/>
          </a:p>
        </p:txBody>
      </p:sp>
      <p:sp>
        <p:nvSpPr>
          <p:cNvPr id="16" name="Shape 14"/>
          <p:cNvSpPr/>
          <p:nvPr/>
        </p:nvSpPr>
        <p:spPr>
          <a:xfrm>
            <a:off x="6446520" y="2971800"/>
            <a:ext cx="4892040" cy="1051560"/>
          </a:xfrm>
          <a:prstGeom prst="rect">
            <a:avLst/>
          </a:prstGeom>
          <a:solidFill>
            <a:srgbClr val="FFFFFF"/>
          </a:solidFill>
          <a:ln w="12700">
            <a:solidFill>
              <a:srgbClr val="CADCFC"/>
            </a:solidFill>
            <a:prstDash val="solid"/>
          </a:ln>
        </p:spPr>
      </p:sp>
      <p:sp>
        <p:nvSpPr>
          <p:cNvPr id="17" name="Text 15"/>
          <p:cNvSpPr/>
          <p:nvPr/>
        </p:nvSpPr>
        <p:spPr>
          <a:xfrm>
            <a:off x="6583680" y="3044952"/>
            <a:ext cx="4617720" cy="457200"/>
          </a:xfrm>
          <a:prstGeom prst="rect">
            <a:avLst/>
          </a:prstGeom>
          <a:noFill/>
          <a:ln/>
        </p:spPr>
        <p:txBody>
          <a:bodyPr wrap="square" rtlCol="0" anchor="ctr"/>
          <a:lstStyle/>
          <a:p>
            <a:pPr marL="0" indent="0">
              <a:buNone/>
            </a:pPr>
            <a:r>
              <a:rPr lang="en-US" sz="1250" b="1" dirty="0">
                <a:solidFill>
                  <a:srgbClr val="27314D"/>
                </a:solidFill>
                <a:latin typeface="Cambria Math" pitchFamily="34" charset="0"/>
                <a:ea typeface="Cambria Math" pitchFamily="34" charset="-122"/>
                <a:cs typeface="Cambria Math" pitchFamily="34" charset="-120"/>
              </a:rPr>
              <a:t>Read_occ = Σ (Read_i × Importance_i) / Σ Importance_i</a:t>
            </a:r>
            <a:endParaRPr lang="en-US" sz="1250" dirty="0"/>
          </a:p>
        </p:txBody>
      </p:sp>
      <p:sp>
        <p:nvSpPr>
          <p:cNvPr id="18" name="Text 16"/>
          <p:cNvSpPr/>
          <p:nvPr/>
        </p:nvSpPr>
        <p:spPr>
          <a:xfrm>
            <a:off x="6583680" y="3520440"/>
            <a:ext cx="4617720" cy="411480"/>
          </a:xfrm>
          <a:prstGeom prst="rect">
            <a:avLst/>
          </a:prstGeom>
          <a:noFill/>
          <a:ln/>
        </p:spPr>
        <p:txBody>
          <a:bodyPr wrap="square" rtlCol="0" anchor="ctr"/>
          <a:lstStyle/>
          <a:p>
            <a:pPr marL="0" indent="0">
              <a:buNone/>
            </a:pPr>
            <a:r>
              <a:rPr lang="en-US" sz="1200" i="1" dirty="0">
                <a:solidFill>
                  <a:srgbClr val="6B7280"/>
                </a:solidFill>
                <a:latin typeface="Cambria Math" pitchFamily="34" charset="0"/>
                <a:ea typeface="Cambria Math" pitchFamily="34" charset="-122"/>
                <a:cs typeface="Cambria Math" pitchFamily="34" charset="-120"/>
              </a:rPr>
              <a:t>Read_norm = (Read_occ − min) / (max − min)</a:t>
            </a:r>
            <a:endParaRPr lang="en-US" sz="1200" dirty="0"/>
          </a:p>
        </p:txBody>
      </p:sp>
      <p:sp>
        <p:nvSpPr>
          <p:cNvPr id="19" name="Text 17"/>
          <p:cNvSpPr/>
          <p:nvPr/>
        </p:nvSpPr>
        <p:spPr>
          <a:xfrm>
            <a:off x="6446520" y="4206240"/>
            <a:ext cx="4892040" cy="1874520"/>
          </a:xfrm>
          <a:prstGeom prst="rect">
            <a:avLst/>
          </a:prstGeom>
          <a:noFill/>
          <a:ln/>
        </p:spPr>
        <p:txBody>
          <a:bodyPr wrap="square" rtlCol="0" anchor="ctr"/>
          <a:lstStyle/>
          <a:p>
            <a:pPr marL="0" indent="0">
              <a:lnSpc>
                <a:spcPct val="125000"/>
              </a:lnSpc>
              <a:buNone/>
            </a:pPr>
            <a:r>
              <a:rPr lang="en-US" sz="1200" dirty="0">
                <a:solidFill>
                  <a:srgbClr val="27314D"/>
                </a:solidFill>
                <a:latin typeface="Calibri" pitchFamily="34" charset="0"/>
                <a:ea typeface="Calibri" pitchFamily="34" charset="-122"/>
                <a:cs typeface="Calibri" pitchFamily="34" charset="-120"/>
              </a:rPr>
              <a:t>Phản ánh mức độ người lao động sẵn sàng chấp nhận, phối hợp hoặc chuyển giao tác vụ cho AI — yếu tố con người bổ sung cho góc nhìn kỹ thuật của Cap.</a:t>
            </a:r>
            <a:endParaRPr lang="en-US" sz="1200" dirty="0"/>
          </a:p>
        </p:txBody>
      </p:sp>
      <p:sp>
        <p:nvSpPr>
          <p:cNvPr id="20" name="Text 1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21" name="Text 19"/>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3 · CHỈ SỐ TRUNG TÂM</a:t>
            </a:r>
            <a:endParaRPr lang="en-US" sz="1300" dirty="0"/>
          </a:p>
        </p:txBody>
      </p:sp>
      <p:sp>
        <p:nvSpPr>
          <p:cNvPr id="3" name="Text 1"/>
          <p:cNvSpPr/>
          <p:nvPr/>
        </p:nvSpPr>
        <p:spPr>
          <a:xfrm>
            <a:off x="548640" y="621792"/>
            <a:ext cx="109728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WFI — Worker Friction Index</a:t>
            </a:r>
            <a:endParaRPr lang="en-US" sz="3000" dirty="0"/>
          </a:p>
        </p:txBody>
      </p:sp>
      <p:sp>
        <p:nvSpPr>
          <p:cNvPr id="4" name="Text 2"/>
          <p:cNvSpPr/>
          <p:nvPr/>
        </p:nvSpPr>
        <p:spPr>
          <a:xfrm>
            <a:off x="548640" y="1371600"/>
            <a:ext cx="10515600" cy="502920"/>
          </a:xfrm>
          <a:prstGeom prst="rect">
            <a:avLst/>
          </a:prstGeom>
          <a:noFill/>
          <a:ln/>
        </p:spPr>
        <p:txBody>
          <a:bodyPr wrap="square" rtlCol="0" anchor="ctr"/>
          <a:lstStyle/>
          <a:p>
            <a:pPr marL="0" indent="0">
              <a:buNone/>
            </a:pPr>
            <a:r>
              <a:rPr lang="en-US" sz="1350" i="1" dirty="0">
                <a:solidFill>
                  <a:srgbClr val="CADCFC"/>
                </a:solidFill>
                <a:latin typeface="Calibri" pitchFamily="34" charset="0"/>
                <a:ea typeface="Calibri" pitchFamily="34" charset="-122"/>
                <a:cs typeface="Calibri" pitchFamily="34" charset="-120"/>
              </a:rPr>
              <a:t>Chỉ số đo độ lệch giữa năng lực AI và mức sẵn sàng của người lao động — cầu nối chuyển dữ liệu kỹ thuật thành khuyến nghị triển khai.</a:t>
            </a:r>
            <a:endParaRPr lang="en-US" sz="1350" dirty="0"/>
          </a:p>
        </p:txBody>
      </p:sp>
      <p:sp>
        <p:nvSpPr>
          <p:cNvPr id="5" name="Shape 3"/>
          <p:cNvSpPr/>
          <p:nvPr/>
        </p:nvSpPr>
        <p:spPr>
          <a:xfrm>
            <a:off x="2651760" y="2103120"/>
            <a:ext cx="6858000" cy="1051560"/>
          </a:xfrm>
          <a:prstGeom prst="rect">
            <a:avLst/>
          </a:prstGeom>
          <a:solidFill>
            <a:srgbClr val="141B45"/>
          </a:solidFill>
          <a:ln w="12700">
            <a:solidFill>
              <a:srgbClr val="D9A441"/>
            </a:solidFill>
            <a:prstDash val="solid"/>
          </a:ln>
        </p:spPr>
      </p:sp>
      <p:sp>
        <p:nvSpPr>
          <p:cNvPr id="6" name="Text 4"/>
          <p:cNvSpPr/>
          <p:nvPr/>
        </p:nvSpPr>
        <p:spPr>
          <a:xfrm>
            <a:off x="2651760" y="2103120"/>
            <a:ext cx="6858000" cy="1051560"/>
          </a:xfrm>
          <a:prstGeom prst="rect">
            <a:avLst/>
          </a:prstGeom>
          <a:noFill/>
          <a:ln/>
        </p:spPr>
        <p:txBody>
          <a:bodyPr wrap="square" rtlCol="0" anchor="ctr"/>
          <a:lstStyle/>
          <a:p>
            <a:pPr marL="0" indent="0" algn="ctr">
              <a:buNone/>
            </a:pPr>
            <a:r>
              <a:rPr lang="en-US" sz="2600" b="1" dirty="0">
                <a:solidFill>
                  <a:srgbClr val="D9A441"/>
                </a:solidFill>
                <a:latin typeface="Cambria Math" pitchFamily="34" charset="0"/>
                <a:ea typeface="Cambria Math" pitchFamily="34" charset="-122"/>
                <a:cs typeface="Cambria Math" pitchFamily="34" charset="-120"/>
              </a:rPr>
              <a:t>WFI  =  Cap_norm  −  Read_norm</a:t>
            </a:r>
            <a:endParaRPr lang="en-US" sz="2600" dirty="0"/>
          </a:p>
        </p:txBody>
      </p:sp>
      <p:sp>
        <p:nvSpPr>
          <p:cNvPr id="7" name="Shape 5"/>
          <p:cNvSpPr/>
          <p:nvPr/>
        </p:nvSpPr>
        <p:spPr>
          <a:xfrm>
            <a:off x="548640" y="3520440"/>
            <a:ext cx="3474720" cy="2606040"/>
          </a:xfrm>
          <a:prstGeom prst="rect">
            <a:avLst/>
          </a:prstGeom>
          <a:solidFill>
            <a:srgbClr val="263172"/>
          </a:solidFill>
          <a:ln/>
        </p:spPr>
      </p:sp>
      <p:sp>
        <p:nvSpPr>
          <p:cNvPr id="8" name="Text 6"/>
          <p:cNvSpPr/>
          <p:nvPr/>
        </p:nvSpPr>
        <p:spPr>
          <a:xfrm>
            <a:off x="777240" y="3703320"/>
            <a:ext cx="3017520" cy="502920"/>
          </a:xfrm>
          <a:prstGeom prst="rect">
            <a:avLst/>
          </a:prstGeom>
          <a:noFill/>
          <a:ln/>
        </p:spPr>
        <p:txBody>
          <a:bodyPr wrap="square" rtlCol="0" anchor="ctr"/>
          <a:lstStyle/>
          <a:p>
            <a:pPr marL="0" indent="0">
              <a:buNone/>
            </a:pPr>
            <a:r>
              <a:rPr lang="en-US" sz="2000" b="1" dirty="0">
                <a:solidFill>
                  <a:srgbClr val="D9A441"/>
                </a:solidFill>
                <a:latin typeface="Cambria" pitchFamily="34" charset="0"/>
                <a:ea typeface="Cambria" pitchFamily="34" charset="-122"/>
                <a:cs typeface="Cambria" pitchFamily="34" charset="-120"/>
              </a:rPr>
              <a:t>WFI &gt; 0</a:t>
            </a:r>
            <a:endParaRPr lang="en-US" sz="2000" dirty="0"/>
          </a:p>
        </p:txBody>
      </p:sp>
      <p:sp>
        <p:nvSpPr>
          <p:cNvPr id="9" name="Text 7"/>
          <p:cNvSpPr/>
          <p:nvPr/>
        </p:nvSpPr>
        <p:spPr>
          <a:xfrm>
            <a:off x="777240" y="4251960"/>
            <a:ext cx="3017520" cy="1005840"/>
          </a:xfrm>
          <a:prstGeom prst="rect">
            <a:avLst/>
          </a:prstGeom>
          <a:noFill/>
          <a:ln/>
        </p:spPr>
        <p:txBody>
          <a:bodyPr wrap="square"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Năng lực AI cao hơn mức sẵn sàng của lao động</a:t>
            </a:r>
            <a:endParaRPr lang="en-US" sz="1250" dirty="0"/>
          </a:p>
        </p:txBody>
      </p:sp>
      <p:sp>
        <p:nvSpPr>
          <p:cNvPr id="10" name="Shape 8"/>
          <p:cNvSpPr/>
          <p:nvPr/>
        </p:nvSpPr>
        <p:spPr>
          <a:xfrm>
            <a:off x="777240" y="5303520"/>
            <a:ext cx="3017520" cy="0"/>
          </a:xfrm>
          <a:prstGeom prst="line">
            <a:avLst/>
          </a:prstGeom>
          <a:noFill/>
          <a:ln w="9525">
            <a:solidFill>
              <a:srgbClr val="CADCFC"/>
            </a:solidFill>
            <a:prstDash val="solid"/>
          </a:ln>
        </p:spPr>
      </p:sp>
      <p:sp>
        <p:nvSpPr>
          <p:cNvPr id="11" name="Text 9"/>
          <p:cNvSpPr/>
          <p:nvPr/>
        </p:nvSpPr>
        <p:spPr>
          <a:xfrm>
            <a:off x="777240" y="5440680"/>
            <a:ext cx="3017520" cy="59436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Rủi ro kháng cự — cần Reskill</a:t>
            </a:r>
            <a:endParaRPr lang="en-US" sz="1200" dirty="0"/>
          </a:p>
        </p:txBody>
      </p:sp>
      <p:sp>
        <p:nvSpPr>
          <p:cNvPr id="12" name="Shape 10"/>
          <p:cNvSpPr/>
          <p:nvPr/>
        </p:nvSpPr>
        <p:spPr>
          <a:xfrm>
            <a:off x="4343400" y="3520440"/>
            <a:ext cx="3474720" cy="2606040"/>
          </a:xfrm>
          <a:prstGeom prst="rect">
            <a:avLst/>
          </a:prstGeom>
          <a:solidFill>
            <a:srgbClr val="263172"/>
          </a:solidFill>
          <a:ln/>
        </p:spPr>
      </p:sp>
      <p:sp>
        <p:nvSpPr>
          <p:cNvPr id="13" name="Text 11"/>
          <p:cNvSpPr/>
          <p:nvPr/>
        </p:nvSpPr>
        <p:spPr>
          <a:xfrm>
            <a:off x="4572000" y="3703320"/>
            <a:ext cx="3017520" cy="502920"/>
          </a:xfrm>
          <a:prstGeom prst="rect">
            <a:avLst/>
          </a:prstGeom>
          <a:noFill/>
          <a:ln/>
        </p:spPr>
        <p:txBody>
          <a:bodyPr wrap="square" rtlCol="0" anchor="ctr"/>
          <a:lstStyle/>
          <a:p>
            <a:pPr marL="0" indent="0">
              <a:buNone/>
            </a:pPr>
            <a:r>
              <a:rPr lang="en-US" sz="2000" b="1" dirty="0">
                <a:solidFill>
                  <a:srgbClr val="D9A441"/>
                </a:solidFill>
                <a:latin typeface="Cambria" pitchFamily="34" charset="0"/>
                <a:ea typeface="Cambria" pitchFamily="34" charset="-122"/>
                <a:cs typeface="Cambria" pitchFamily="34" charset="-120"/>
              </a:rPr>
              <a:t>WFI ≈ 0</a:t>
            </a:r>
            <a:endParaRPr lang="en-US" sz="2000" dirty="0"/>
          </a:p>
        </p:txBody>
      </p:sp>
      <p:sp>
        <p:nvSpPr>
          <p:cNvPr id="14" name="Text 12"/>
          <p:cNvSpPr/>
          <p:nvPr/>
        </p:nvSpPr>
        <p:spPr>
          <a:xfrm>
            <a:off x="4572000" y="4251960"/>
            <a:ext cx="3017520" cy="1005840"/>
          </a:xfrm>
          <a:prstGeom prst="rect">
            <a:avLst/>
          </a:prstGeom>
          <a:noFill/>
          <a:ln/>
        </p:spPr>
        <p:txBody>
          <a:bodyPr wrap="square"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Hai phía tương đối cân bằng</a:t>
            </a:r>
            <a:endParaRPr lang="en-US" sz="1250" dirty="0"/>
          </a:p>
        </p:txBody>
      </p:sp>
      <p:sp>
        <p:nvSpPr>
          <p:cNvPr id="15" name="Shape 13"/>
          <p:cNvSpPr/>
          <p:nvPr/>
        </p:nvSpPr>
        <p:spPr>
          <a:xfrm>
            <a:off x="4572000" y="5303520"/>
            <a:ext cx="3017520" cy="0"/>
          </a:xfrm>
          <a:prstGeom prst="line">
            <a:avLst/>
          </a:prstGeom>
          <a:noFill/>
          <a:ln w="9525">
            <a:solidFill>
              <a:srgbClr val="CADCFC"/>
            </a:solidFill>
            <a:prstDash val="solid"/>
          </a:ln>
        </p:spPr>
      </p:sp>
      <p:sp>
        <p:nvSpPr>
          <p:cNvPr id="16" name="Text 14"/>
          <p:cNvSpPr/>
          <p:nvPr/>
        </p:nvSpPr>
        <p:spPr>
          <a:xfrm>
            <a:off x="4572000" y="5440680"/>
            <a:ext cx="3017520" cy="59436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Ổn định — theo dõi định kỳ</a:t>
            </a:r>
            <a:endParaRPr lang="en-US" sz="1200" dirty="0"/>
          </a:p>
        </p:txBody>
      </p:sp>
      <p:sp>
        <p:nvSpPr>
          <p:cNvPr id="17" name="Shape 15"/>
          <p:cNvSpPr/>
          <p:nvPr/>
        </p:nvSpPr>
        <p:spPr>
          <a:xfrm>
            <a:off x="8138160" y="3520440"/>
            <a:ext cx="3474720" cy="2606040"/>
          </a:xfrm>
          <a:prstGeom prst="rect">
            <a:avLst/>
          </a:prstGeom>
          <a:solidFill>
            <a:srgbClr val="263172"/>
          </a:solidFill>
          <a:ln/>
        </p:spPr>
      </p:sp>
      <p:sp>
        <p:nvSpPr>
          <p:cNvPr id="18" name="Text 16"/>
          <p:cNvSpPr/>
          <p:nvPr/>
        </p:nvSpPr>
        <p:spPr>
          <a:xfrm>
            <a:off x="8366760" y="3703320"/>
            <a:ext cx="3017520" cy="502920"/>
          </a:xfrm>
          <a:prstGeom prst="rect">
            <a:avLst/>
          </a:prstGeom>
          <a:noFill/>
          <a:ln/>
        </p:spPr>
        <p:txBody>
          <a:bodyPr wrap="square" rtlCol="0" anchor="ctr"/>
          <a:lstStyle/>
          <a:p>
            <a:pPr marL="0" indent="0">
              <a:buNone/>
            </a:pPr>
            <a:r>
              <a:rPr lang="en-US" sz="2000" b="1" dirty="0">
                <a:solidFill>
                  <a:srgbClr val="D9A441"/>
                </a:solidFill>
                <a:latin typeface="Cambria" pitchFamily="34" charset="0"/>
                <a:ea typeface="Cambria" pitchFamily="34" charset="-122"/>
                <a:cs typeface="Cambria" pitchFamily="34" charset="-120"/>
              </a:rPr>
              <a:t>WFI &lt; 0</a:t>
            </a:r>
            <a:endParaRPr lang="en-US" sz="2000" dirty="0"/>
          </a:p>
        </p:txBody>
      </p:sp>
      <p:sp>
        <p:nvSpPr>
          <p:cNvPr id="19" name="Text 17"/>
          <p:cNvSpPr/>
          <p:nvPr/>
        </p:nvSpPr>
        <p:spPr>
          <a:xfrm>
            <a:off x="8366760" y="4251960"/>
            <a:ext cx="3017520" cy="1005840"/>
          </a:xfrm>
          <a:prstGeom prst="rect">
            <a:avLst/>
          </a:prstGeom>
          <a:noFill/>
          <a:ln/>
        </p:spPr>
        <p:txBody>
          <a:bodyPr wrap="square" rtlCol="0" anchor="ctr"/>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Lao động sẵn sàng hơn năng lực AI hiện tại</a:t>
            </a:r>
            <a:endParaRPr lang="en-US" sz="1250" dirty="0"/>
          </a:p>
        </p:txBody>
      </p:sp>
      <p:sp>
        <p:nvSpPr>
          <p:cNvPr id="20" name="Shape 18"/>
          <p:cNvSpPr/>
          <p:nvPr/>
        </p:nvSpPr>
        <p:spPr>
          <a:xfrm>
            <a:off x="8366760" y="5303520"/>
            <a:ext cx="3017520" cy="0"/>
          </a:xfrm>
          <a:prstGeom prst="line">
            <a:avLst/>
          </a:prstGeom>
          <a:noFill/>
          <a:ln w="9525">
            <a:solidFill>
              <a:srgbClr val="CADCFC"/>
            </a:solidFill>
            <a:prstDash val="solid"/>
          </a:ln>
        </p:spPr>
      </p:sp>
      <p:sp>
        <p:nvSpPr>
          <p:cNvPr id="21" name="Text 19"/>
          <p:cNvSpPr/>
          <p:nvPr/>
        </p:nvSpPr>
        <p:spPr>
          <a:xfrm>
            <a:off x="8366760" y="5440680"/>
            <a:ext cx="3017520" cy="59436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Dư địa mở rộng ứng dụng AI</a:t>
            </a:r>
            <a:endParaRPr lang="en-US" sz="1200" dirty="0"/>
          </a:p>
        </p:txBody>
      </p:sp>
      <p:sp>
        <p:nvSpPr>
          <p:cNvPr id="22" name="Text 20"/>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23" name="Text 21"/>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3 &amp; 5 · CHỈ SỐ MỞ RỘNG</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Chỉ số phơi nhiễm kinh tế &amp; Chỉ số chiến lược</a:t>
            </a:r>
            <a:endParaRPr lang="en-US" sz="3000" dirty="0"/>
          </a:p>
        </p:txBody>
      </p:sp>
      <p:sp>
        <p:nvSpPr>
          <p:cNvPr id="4" name="Shape 2"/>
          <p:cNvSpPr/>
          <p:nvPr/>
        </p:nvSpPr>
        <p:spPr>
          <a:xfrm>
            <a:off x="548640" y="1508760"/>
            <a:ext cx="3505200" cy="1508760"/>
          </a:xfrm>
          <a:prstGeom prst="rect">
            <a:avLst/>
          </a:prstGeom>
          <a:solidFill>
            <a:srgbClr val="F4F5FA"/>
          </a:solidFill>
          <a:ln/>
        </p:spPr>
      </p:sp>
      <p:sp>
        <p:nvSpPr>
          <p:cNvPr id="5" name="Text 3"/>
          <p:cNvSpPr/>
          <p:nvPr/>
        </p:nvSpPr>
        <p:spPr>
          <a:xfrm>
            <a:off x="777240" y="1618488"/>
            <a:ext cx="30480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WEI</a:t>
            </a:r>
            <a:endParaRPr lang="en-US" sz="1800" dirty="0"/>
          </a:p>
        </p:txBody>
      </p:sp>
      <p:sp>
        <p:nvSpPr>
          <p:cNvPr id="6" name="Text 4"/>
          <p:cNvSpPr/>
          <p:nvPr/>
        </p:nvSpPr>
        <p:spPr>
          <a:xfrm>
            <a:off x="777240" y="2011680"/>
            <a:ext cx="3048000" cy="320040"/>
          </a:xfrm>
          <a:prstGeom prst="rect">
            <a:avLst/>
          </a:prstGeom>
          <a:noFill/>
          <a:ln/>
        </p:spPr>
        <p:txBody>
          <a:bodyPr wrap="square" rtlCol="0" anchor="ctr"/>
          <a:lstStyle/>
          <a:p>
            <a:pPr marL="0" indent="0">
              <a:buNone/>
            </a:pPr>
            <a:r>
              <a:rPr lang="en-US" sz="1300" b="1" dirty="0">
                <a:solidFill>
                  <a:srgbClr val="1C7293"/>
                </a:solidFill>
                <a:latin typeface="Cambria Math" pitchFamily="34" charset="0"/>
                <a:ea typeface="Cambria Math" pitchFamily="34" charset="-122"/>
                <a:cs typeface="Cambria Math" pitchFamily="34" charset="-120"/>
              </a:rPr>
              <a:t>Employment × Cap</a:t>
            </a:r>
            <a:endParaRPr lang="en-US" sz="1300" dirty="0"/>
          </a:p>
        </p:txBody>
      </p:sp>
      <p:sp>
        <p:nvSpPr>
          <p:cNvPr id="7" name="Text 5"/>
          <p:cNvSpPr/>
          <p:nvPr/>
        </p:nvSpPr>
        <p:spPr>
          <a:xfrm>
            <a:off x="777240" y="2350008"/>
            <a:ext cx="3048000" cy="621792"/>
          </a:xfrm>
          <a:prstGeom prst="rect">
            <a:avLst/>
          </a:prstGeom>
          <a:noFill/>
          <a:ln/>
        </p:spPr>
        <p:txBody>
          <a:bodyPr wrap="square" rtlCol="0" anchor="ctr"/>
          <a:lstStyle/>
          <a:p>
            <a:pPr marL="0" indent="0">
              <a:lnSpc>
                <a:spcPct val="110000"/>
              </a:lnSpc>
              <a:buNone/>
            </a:pPr>
            <a:r>
              <a:rPr lang="en-US" sz="1050" dirty="0">
                <a:solidFill>
                  <a:srgbClr val="27314D"/>
                </a:solidFill>
                <a:latin typeface="Calibri" pitchFamily="34" charset="0"/>
                <a:ea typeface="Calibri" pitchFamily="34" charset="-122"/>
                <a:cs typeface="Calibri" pitchFamily="34" charset="-120"/>
              </a:rPr>
              <a:t>Phơi nhiễm lực lượng lao động — quy mô LĐ bị ảnh hưởng</a:t>
            </a:r>
            <a:endParaRPr lang="en-US" sz="1050" dirty="0"/>
          </a:p>
        </p:txBody>
      </p:sp>
      <p:sp>
        <p:nvSpPr>
          <p:cNvPr id="8" name="Shape 6"/>
          <p:cNvSpPr/>
          <p:nvPr/>
        </p:nvSpPr>
        <p:spPr>
          <a:xfrm>
            <a:off x="4328160" y="1508760"/>
            <a:ext cx="3505200" cy="1508760"/>
          </a:xfrm>
          <a:prstGeom prst="rect">
            <a:avLst/>
          </a:prstGeom>
          <a:solidFill>
            <a:srgbClr val="F4F5FA"/>
          </a:solidFill>
          <a:ln/>
        </p:spPr>
      </p:sp>
      <p:sp>
        <p:nvSpPr>
          <p:cNvPr id="9" name="Text 7"/>
          <p:cNvSpPr/>
          <p:nvPr/>
        </p:nvSpPr>
        <p:spPr>
          <a:xfrm>
            <a:off x="4556760" y="1618488"/>
            <a:ext cx="30480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PEI</a:t>
            </a:r>
            <a:endParaRPr lang="en-US" sz="1800" dirty="0"/>
          </a:p>
        </p:txBody>
      </p:sp>
      <p:sp>
        <p:nvSpPr>
          <p:cNvPr id="10" name="Text 8"/>
          <p:cNvSpPr/>
          <p:nvPr/>
        </p:nvSpPr>
        <p:spPr>
          <a:xfrm>
            <a:off x="4556760" y="2011680"/>
            <a:ext cx="3048000" cy="320040"/>
          </a:xfrm>
          <a:prstGeom prst="rect">
            <a:avLst/>
          </a:prstGeom>
          <a:noFill/>
          <a:ln/>
        </p:spPr>
        <p:txBody>
          <a:bodyPr wrap="square" rtlCol="0" anchor="ctr"/>
          <a:lstStyle/>
          <a:p>
            <a:pPr marL="0" indent="0">
              <a:buNone/>
            </a:pPr>
            <a:r>
              <a:rPr lang="en-US" sz="1300" b="1" dirty="0">
                <a:solidFill>
                  <a:srgbClr val="1C7293"/>
                </a:solidFill>
                <a:latin typeface="Cambria Math" pitchFamily="34" charset="0"/>
                <a:ea typeface="Cambria Math" pitchFamily="34" charset="-122"/>
                <a:cs typeface="Cambria Math" pitchFamily="34" charset="-120"/>
              </a:rPr>
              <a:t>Wage × Cap</a:t>
            </a:r>
            <a:endParaRPr lang="en-US" sz="1300" dirty="0"/>
          </a:p>
        </p:txBody>
      </p:sp>
      <p:sp>
        <p:nvSpPr>
          <p:cNvPr id="11" name="Text 9"/>
          <p:cNvSpPr/>
          <p:nvPr/>
        </p:nvSpPr>
        <p:spPr>
          <a:xfrm>
            <a:off x="4556760" y="2350008"/>
            <a:ext cx="3048000" cy="621792"/>
          </a:xfrm>
          <a:prstGeom prst="rect">
            <a:avLst/>
          </a:prstGeom>
          <a:noFill/>
          <a:ln/>
        </p:spPr>
        <p:txBody>
          <a:bodyPr wrap="square" rtlCol="0" anchor="ctr"/>
          <a:lstStyle/>
          <a:p>
            <a:pPr marL="0" indent="0">
              <a:lnSpc>
                <a:spcPct val="110000"/>
              </a:lnSpc>
              <a:buNone/>
            </a:pPr>
            <a:r>
              <a:rPr lang="en-US" sz="1050" dirty="0">
                <a:solidFill>
                  <a:srgbClr val="27314D"/>
                </a:solidFill>
                <a:latin typeface="Calibri" pitchFamily="34" charset="0"/>
                <a:ea typeface="Calibri" pitchFamily="34" charset="-122"/>
                <a:cs typeface="Calibri" pitchFamily="34" charset="-120"/>
              </a:rPr>
              <a:t>Phơi nhiễm quỹ lương — giá trị kinh tế tiềm năng</a:t>
            </a:r>
            <a:endParaRPr lang="en-US" sz="1050" dirty="0"/>
          </a:p>
        </p:txBody>
      </p:sp>
      <p:sp>
        <p:nvSpPr>
          <p:cNvPr id="12" name="Shape 10"/>
          <p:cNvSpPr/>
          <p:nvPr/>
        </p:nvSpPr>
        <p:spPr>
          <a:xfrm>
            <a:off x="8107680" y="1508760"/>
            <a:ext cx="3505200" cy="1508760"/>
          </a:xfrm>
          <a:prstGeom prst="rect">
            <a:avLst/>
          </a:prstGeom>
          <a:solidFill>
            <a:srgbClr val="F4F5FA"/>
          </a:solidFill>
          <a:ln/>
        </p:spPr>
      </p:sp>
      <p:sp>
        <p:nvSpPr>
          <p:cNvPr id="13" name="Text 11"/>
          <p:cNvSpPr/>
          <p:nvPr/>
        </p:nvSpPr>
        <p:spPr>
          <a:xfrm>
            <a:off x="8336280" y="1618488"/>
            <a:ext cx="30480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CI</a:t>
            </a:r>
            <a:endParaRPr lang="en-US" sz="1800" dirty="0"/>
          </a:p>
        </p:txBody>
      </p:sp>
      <p:sp>
        <p:nvSpPr>
          <p:cNvPr id="14" name="Text 12"/>
          <p:cNvSpPr/>
          <p:nvPr/>
        </p:nvSpPr>
        <p:spPr>
          <a:xfrm>
            <a:off x="8336280" y="2011680"/>
            <a:ext cx="3048000" cy="320040"/>
          </a:xfrm>
          <a:prstGeom prst="rect">
            <a:avLst/>
          </a:prstGeom>
          <a:noFill/>
          <a:ln/>
        </p:spPr>
        <p:txBody>
          <a:bodyPr wrap="square" rtlCol="0" anchor="ctr"/>
          <a:lstStyle/>
          <a:p>
            <a:pPr marL="0" indent="0">
              <a:buNone/>
            </a:pPr>
            <a:r>
              <a:rPr lang="en-US" sz="1300" b="1" dirty="0">
                <a:solidFill>
                  <a:srgbClr val="1C7293"/>
                </a:solidFill>
                <a:latin typeface="Cambria Math" pitchFamily="34" charset="0"/>
                <a:ea typeface="Cambria Math" pitchFamily="34" charset="-122"/>
                <a:cs typeface="Cambria Math" pitchFamily="34" charset="-120"/>
              </a:rPr>
              <a:t>Importance × Cap</a:t>
            </a:r>
            <a:endParaRPr lang="en-US" sz="1300" dirty="0"/>
          </a:p>
        </p:txBody>
      </p:sp>
      <p:sp>
        <p:nvSpPr>
          <p:cNvPr id="15" name="Text 13"/>
          <p:cNvSpPr/>
          <p:nvPr/>
        </p:nvSpPr>
        <p:spPr>
          <a:xfrm>
            <a:off x="8336280" y="2350008"/>
            <a:ext cx="3048000" cy="621792"/>
          </a:xfrm>
          <a:prstGeom prst="rect">
            <a:avLst/>
          </a:prstGeom>
          <a:noFill/>
          <a:ln/>
        </p:spPr>
        <p:txBody>
          <a:bodyPr wrap="square" rtlCol="0" anchor="ctr"/>
          <a:lstStyle/>
          <a:p>
            <a:pPr marL="0" indent="0">
              <a:lnSpc>
                <a:spcPct val="110000"/>
              </a:lnSpc>
              <a:buNone/>
            </a:pPr>
            <a:r>
              <a:rPr lang="en-US" sz="1050" dirty="0">
                <a:solidFill>
                  <a:srgbClr val="27314D"/>
                </a:solidFill>
                <a:latin typeface="Calibri" pitchFamily="34" charset="0"/>
                <a:ea typeface="Calibri" pitchFamily="34" charset="-122"/>
                <a:cs typeface="Calibri" pitchFamily="34" charset="-120"/>
              </a:rPr>
              <a:t>Chỉ số trọng yếu — rủi ro kiểm soát khi tự động hoá</a:t>
            </a:r>
            <a:endParaRPr lang="en-US" sz="1050" dirty="0"/>
          </a:p>
        </p:txBody>
      </p:sp>
      <p:sp>
        <p:nvSpPr>
          <p:cNvPr id="16" name="Shape 14"/>
          <p:cNvSpPr/>
          <p:nvPr/>
        </p:nvSpPr>
        <p:spPr>
          <a:xfrm>
            <a:off x="5893308" y="3127248"/>
            <a:ext cx="402336" cy="402336"/>
          </a:xfrm>
          <a:prstGeom prst="ellipse">
            <a:avLst/>
          </a:prstGeom>
          <a:solidFill>
            <a:srgbClr val="D9A441"/>
          </a:solidFill>
          <a:ln/>
        </p:spPr>
      </p:sp>
      <p:sp>
        <p:nvSpPr>
          <p:cNvPr id="17" name="Text 15"/>
          <p:cNvSpPr/>
          <p:nvPr/>
        </p:nvSpPr>
        <p:spPr>
          <a:xfrm>
            <a:off x="5893308" y="3108960"/>
            <a:ext cx="402336" cy="402336"/>
          </a:xfrm>
          <a:prstGeom prst="rect">
            <a:avLst/>
          </a:prstGeom>
          <a:noFill/>
          <a:ln/>
        </p:spPr>
        <p:txBody>
          <a:bodyPr wrap="square"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3108960" y="3611880"/>
            <a:ext cx="5943600" cy="566928"/>
          </a:xfrm>
          <a:prstGeom prst="rect">
            <a:avLst/>
          </a:prstGeom>
          <a:solidFill>
            <a:srgbClr val="1E2761"/>
          </a:solidFill>
          <a:ln/>
        </p:spPr>
      </p:sp>
      <p:sp>
        <p:nvSpPr>
          <p:cNvPr id="19" name="Text 17"/>
          <p:cNvSpPr/>
          <p:nvPr/>
        </p:nvSpPr>
        <p:spPr>
          <a:xfrm>
            <a:off x="3108960" y="3611880"/>
            <a:ext cx="5943600" cy="566928"/>
          </a:xfrm>
          <a:prstGeom prst="rect">
            <a:avLst/>
          </a:prstGeom>
          <a:noFill/>
          <a:ln/>
        </p:spPr>
        <p:txBody>
          <a:bodyPr wrap="square" rtlCol="0" anchor="ctr"/>
          <a:lstStyle/>
          <a:p>
            <a:pPr marL="0" indent="0" algn="ctr">
              <a:buNone/>
            </a:pPr>
            <a:r>
              <a:rPr lang="en-US" sz="1300" b="1" dirty="0">
                <a:solidFill>
                  <a:srgbClr val="FFFFFF"/>
                </a:solidFill>
                <a:latin typeface="Cambria Math" pitchFamily="34" charset="0"/>
                <a:ea typeface="Cambria Math" pitchFamily="34" charset="-122"/>
                <a:cs typeface="Cambria Math" pitchFamily="34" charset="-120"/>
              </a:rPr>
              <a:t>Economic Exposure (EE) = ( CI_norm + WEI_norm + PEI_norm ) / 3</a:t>
            </a:r>
            <a:endParaRPr lang="en-US" sz="1300" dirty="0"/>
          </a:p>
        </p:txBody>
      </p:sp>
      <p:sp>
        <p:nvSpPr>
          <p:cNvPr id="20" name="Shape 18"/>
          <p:cNvSpPr/>
          <p:nvPr/>
        </p:nvSpPr>
        <p:spPr>
          <a:xfrm>
            <a:off x="548640" y="4480560"/>
            <a:ext cx="5394960" cy="1691640"/>
          </a:xfrm>
          <a:prstGeom prst="rect">
            <a:avLst/>
          </a:prstGeom>
          <a:solidFill>
            <a:srgbClr val="F4F5FA"/>
          </a:solidFill>
          <a:ln/>
        </p:spPr>
      </p:sp>
      <p:sp>
        <p:nvSpPr>
          <p:cNvPr id="21" name="Text 19"/>
          <p:cNvSpPr/>
          <p:nvPr/>
        </p:nvSpPr>
        <p:spPr>
          <a:xfrm>
            <a:off x="777240" y="4590288"/>
            <a:ext cx="4937760" cy="365760"/>
          </a:xfrm>
          <a:prstGeom prst="rect">
            <a:avLst/>
          </a:prstGeom>
          <a:noFill/>
          <a:ln/>
        </p:spPr>
        <p:txBody>
          <a:bodyPr wrap="square" rtlCol="0" anchor="ctr"/>
          <a:lstStyle/>
          <a:p>
            <a:pPr marL="0" indent="0">
              <a:buNone/>
            </a:pPr>
            <a:r>
              <a:rPr lang="en-US" sz="1700" b="1" dirty="0">
                <a:solidFill>
                  <a:srgbClr val="D9A441"/>
                </a:solidFill>
                <a:latin typeface="Cambria" pitchFamily="34" charset="0"/>
                <a:ea typeface="Cambria" pitchFamily="34" charset="-122"/>
                <a:cs typeface="Cambria" pitchFamily="34" charset="-120"/>
              </a:rPr>
              <a:t>AIPS  </a:t>
            </a:r>
            <a:r>
              <a:rPr lang="en-US" sz="1100" i="1" dirty="0">
                <a:solidFill>
                  <a:srgbClr val="6B7280"/>
                </a:solidFill>
                <a:latin typeface="Calibri" pitchFamily="34" charset="0"/>
                <a:ea typeface="Calibri" pitchFamily="34" charset="-122"/>
                <a:cs typeface="Calibri" pitchFamily="34" charset="-120"/>
              </a:rPr>
              <a:t>AI Investment Prioritization Score</a:t>
            </a:r>
            <a:endParaRPr lang="en-US" sz="1700" dirty="0"/>
          </a:p>
        </p:txBody>
      </p:sp>
      <p:sp>
        <p:nvSpPr>
          <p:cNvPr id="22" name="Text 20"/>
          <p:cNvSpPr/>
          <p:nvPr/>
        </p:nvSpPr>
        <p:spPr>
          <a:xfrm>
            <a:off x="777240" y="4983480"/>
            <a:ext cx="4937760" cy="320040"/>
          </a:xfrm>
          <a:prstGeom prst="rect">
            <a:avLst/>
          </a:prstGeom>
          <a:noFill/>
          <a:ln/>
        </p:spPr>
        <p:txBody>
          <a:bodyPr wrap="square" rtlCol="0" anchor="ctr"/>
          <a:lstStyle/>
          <a:p>
            <a:pPr marL="0" indent="0">
              <a:buNone/>
            </a:pPr>
            <a:r>
              <a:rPr lang="en-US" sz="1250" b="1" dirty="0">
                <a:solidFill>
                  <a:srgbClr val="1E2761"/>
                </a:solidFill>
                <a:latin typeface="Cambria Math" pitchFamily="34" charset="0"/>
                <a:ea typeface="Cambria Math" pitchFamily="34" charset="-122"/>
                <a:cs typeface="Cambria Math" pitchFamily="34" charset="-120"/>
              </a:rPr>
              <a:t>AIPS = Cap × Read × Economic Exposure</a:t>
            </a:r>
            <a:endParaRPr lang="en-US" sz="1250" dirty="0"/>
          </a:p>
        </p:txBody>
      </p:sp>
      <p:sp>
        <p:nvSpPr>
          <p:cNvPr id="23" name="Text 21"/>
          <p:cNvSpPr/>
          <p:nvPr/>
        </p:nvSpPr>
        <p:spPr>
          <a:xfrm>
            <a:off x="777240" y="5349240"/>
            <a:ext cx="4937760" cy="777240"/>
          </a:xfrm>
          <a:prstGeom prst="rect">
            <a:avLst/>
          </a:prstGeom>
          <a:noFill/>
          <a:ln/>
        </p:spPr>
        <p:txBody>
          <a:bodyPr wrap="square" rtlCol="0" anchor="ctr"/>
          <a:lstStyle/>
          <a:p>
            <a:pPr marL="0" indent="0">
              <a:lnSpc>
                <a:spcPct val="115000"/>
              </a:lnSpc>
              <a:buNone/>
            </a:pPr>
            <a:r>
              <a:rPr lang="en-US" sz="1050" dirty="0">
                <a:solidFill>
                  <a:srgbClr val="27314D"/>
                </a:solidFill>
                <a:latin typeface="Calibri" pitchFamily="34" charset="0"/>
                <a:ea typeface="Calibri" pitchFamily="34" charset="-122"/>
                <a:cs typeface="Calibri" pitchFamily="34" charset="-120"/>
              </a:rPr>
              <a:t>Điểm ưu tiên đầu tư AI. Phép nhân triệt tiêu các nghề phơi nhiễm kinh tế cao nhưng Read thấp (phản kháng) hoặc Cap thấp (công nghệ chưa đủ). Điểm càng cao → ứng viên lý tưởng để triển khai thí điểm.</a:t>
            </a:r>
            <a:endParaRPr lang="en-US" sz="1050" dirty="0"/>
          </a:p>
        </p:txBody>
      </p:sp>
      <p:sp>
        <p:nvSpPr>
          <p:cNvPr id="24" name="Shape 22"/>
          <p:cNvSpPr/>
          <p:nvPr/>
        </p:nvSpPr>
        <p:spPr>
          <a:xfrm>
            <a:off x="6217920" y="4480560"/>
            <a:ext cx="5394960" cy="1691640"/>
          </a:xfrm>
          <a:prstGeom prst="rect">
            <a:avLst/>
          </a:prstGeom>
          <a:solidFill>
            <a:srgbClr val="F4F5FA"/>
          </a:solidFill>
          <a:ln/>
        </p:spPr>
      </p:sp>
      <p:sp>
        <p:nvSpPr>
          <p:cNvPr id="25" name="Text 23"/>
          <p:cNvSpPr/>
          <p:nvPr/>
        </p:nvSpPr>
        <p:spPr>
          <a:xfrm>
            <a:off x="6446520" y="4590288"/>
            <a:ext cx="4937760" cy="365760"/>
          </a:xfrm>
          <a:prstGeom prst="rect">
            <a:avLst/>
          </a:prstGeom>
          <a:noFill/>
          <a:ln/>
        </p:spPr>
        <p:txBody>
          <a:bodyPr wrap="square" rtlCol="0" anchor="ctr"/>
          <a:lstStyle/>
          <a:p>
            <a:pPr marL="0" indent="0">
              <a:buNone/>
            </a:pPr>
            <a:r>
              <a:rPr lang="en-US" sz="1700" b="1" dirty="0">
                <a:solidFill>
                  <a:srgbClr val="D9A441"/>
                </a:solidFill>
                <a:latin typeface="Cambria" pitchFamily="34" charset="0"/>
                <a:ea typeface="Cambria" pitchFamily="34" charset="-122"/>
                <a:cs typeface="Cambria" pitchFamily="34" charset="-120"/>
              </a:rPr>
              <a:t>WTRS  </a:t>
            </a:r>
            <a:r>
              <a:rPr lang="en-US" sz="1100" i="1" dirty="0">
                <a:solidFill>
                  <a:srgbClr val="6B7280"/>
                </a:solidFill>
                <a:latin typeface="Calibri" pitchFamily="34" charset="0"/>
                <a:ea typeface="Calibri" pitchFamily="34" charset="-122"/>
                <a:cs typeface="Calibri" pitchFamily="34" charset="-120"/>
              </a:rPr>
              <a:t>Workforce Transition Risk Score</a:t>
            </a:r>
            <a:endParaRPr lang="en-US" sz="1700" dirty="0"/>
          </a:p>
        </p:txBody>
      </p:sp>
      <p:sp>
        <p:nvSpPr>
          <p:cNvPr id="26" name="Text 24"/>
          <p:cNvSpPr/>
          <p:nvPr/>
        </p:nvSpPr>
        <p:spPr>
          <a:xfrm>
            <a:off x="6446520" y="4983480"/>
            <a:ext cx="4937760" cy="320040"/>
          </a:xfrm>
          <a:prstGeom prst="rect">
            <a:avLst/>
          </a:prstGeom>
          <a:noFill/>
          <a:ln/>
        </p:spPr>
        <p:txBody>
          <a:bodyPr wrap="square" rtlCol="0" anchor="ctr"/>
          <a:lstStyle/>
          <a:p>
            <a:pPr marL="0" indent="0">
              <a:buNone/>
            </a:pPr>
            <a:r>
              <a:rPr lang="en-US" sz="1250" b="1" dirty="0">
                <a:solidFill>
                  <a:srgbClr val="1E2761"/>
                </a:solidFill>
                <a:latin typeface="Cambria Math" pitchFamily="34" charset="0"/>
                <a:ea typeface="Cambria Math" pitchFamily="34" charset="-122"/>
                <a:cs typeface="Cambria Math" pitchFamily="34" charset="-120"/>
              </a:rPr>
              <a:t>WTRS = Cap_norm × (1 − Read_norm) × EE</a:t>
            </a:r>
            <a:endParaRPr lang="en-US" sz="1250" dirty="0"/>
          </a:p>
        </p:txBody>
      </p:sp>
      <p:sp>
        <p:nvSpPr>
          <p:cNvPr id="27" name="Text 25"/>
          <p:cNvSpPr/>
          <p:nvPr/>
        </p:nvSpPr>
        <p:spPr>
          <a:xfrm>
            <a:off x="6446520" y="5349240"/>
            <a:ext cx="4937760" cy="777240"/>
          </a:xfrm>
          <a:prstGeom prst="rect">
            <a:avLst/>
          </a:prstGeom>
          <a:noFill/>
          <a:ln/>
        </p:spPr>
        <p:txBody>
          <a:bodyPr wrap="square" rtlCol="0" anchor="ctr"/>
          <a:lstStyle/>
          <a:p>
            <a:pPr marL="0" indent="0">
              <a:lnSpc>
                <a:spcPct val="115000"/>
              </a:lnSpc>
              <a:buNone/>
            </a:pPr>
            <a:r>
              <a:rPr lang="en-US" sz="1050" dirty="0">
                <a:solidFill>
                  <a:srgbClr val="27314D"/>
                </a:solidFill>
                <a:latin typeface="Calibri" pitchFamily="34" charset="0"/>
                <a:ea typeface="Calibri" pitchFamily="34" charset="-122"/>
                <a:cs typeface="Calibri" pitchFamily="34" charset="-120"/>
              </a:rPr>
              <a:t>Hệ thống cảnh báo sớm rủi ro chuyển đổi. Cap cao + Economic Exposure lớn + Read thấp → WTRS đạt đỉnh → khuyến nghị Reskill Workforce, tránh chuyển đổi cưỡng ép.</a:t>
            </a:r>
            <a:endParaRPr lang="en-US" sz="1050" dirty="0"/>
          </a:p>
        </p:txBody>
      </p:sp>
      <p:sp>
        <p:nvSpPr>
          <p:cNvPr id="28" name="Text 26"/>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29" name="Text 27"/>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4 · TRỰC QUAN HOÁ DASHBOARD</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Dashboard — Tab Tổng quan (Overview)</a:t>
            </a:r>
            <a:endParaRPr lang="en-US" sz="3000" dirty="0"/>
          </a:p>
        </p:txBody>
      </p:sp>
      <p:pic>
        <p:nvPicPr>
          <p:cNvPr id="4" name="Image 0" descr="imgs/overview1.png"/>
          <p:cNvPicPr>
            <a:picLocks noChangeAspect="1"/>
          </p:cNvPicPr>
          <p:nvPr/>
        </p:nvPicPr>
        <p:blipFill>
          <a:blip r:embed="rId3"/>
          <a:stretch>
            <a:fillRect/>
          </a:stretch>
        </p:blipFill>
        <p:spPr>
          <a:xfrm>
            <a:off x="548640" y="1508760"/>
            <a:ext cx="5074920" cy="2798064"/>
          </a:xfrm>
          <a:prstGeom prst="rect">
            <a:avLst/>
          </a:prstGeom>
        </p:spPr>
      </p:pic>
      <p:pic>
        <p:nvPicPr>
          <p:cNvPr id="5" name="Image 1" descr="imgs/overview3.png"/>
          <p:cNvPicPr>
            <a:picLocks noChangeAspect="1"/>
          </p:cNvPicPr>
          <p:nvPr/>
        </p:nvPicPr>
        <p:blipFill>
          <a:blip r:embed="rId4"/>
          <a:stretch>
            <a:fillRect/>
          </a:stretch>
        </p:blipFill>
        <p:spPr>
          <a:xfrm>
            <a:off x="548640" y="4434840"/>
            <a:ext cx="5074920" cy="1783080"/>
          </a:xfrm>
          <a:prstGeom prst="rect">
            <a:avLst/>
          </a:prstGeom>
        </p:spPr>
      </p:pic>
      <p:pic>
        <p:nvPicPr>
          <p:cNvPr id="6" name="Image 2" descr="imgs/overview2.png"/>
          <p:cNvPicPr>
            <a:picLocks noChangeAspect="1"/>
          </p:cNvPicPr>
          <p:nvPr/>
        </p:nvPicPr>
        <p:blipFill>
          <a:blip r:embed="rId5"/>
          <a:stretch>
            <a:fillRect/>
          </a:stretch>
        </p:blipFill>
        <p:spPr>
          <a:xfrm>
            <a:off x="5806440" y="1508760"/>
            <a:ext cx="5852160" cy="3182112"/>
          </a:xfrm>
          <a:prstGeom prst="rect">
            <a:avLst/>
          </a:prstGeom>
        </p:spPr>
      </p:pic>
      <p:sp>
        <p:nvSpPr>
          <p:cNvPr id="7" name="Shape 2"/>
          <p:cNvSpPr/>
          <p:nvPr/>
        </p:nvSpPr>
        <p:spPr>
          <a:xfrm>
            <a:off x="5806440" y="4828032"/>
            <a:ext cx="5852160" cy="1417320"/>
          </a:xfrm>
          <a:prstGeom prst="rect">
            <a:avLst/>
          </a:prstGeom>
          <a:solidFill>
            <a:srgbClr val="1E2761"/>
          </a:solidFill>
          <a:ln/>
        </p:spPr>
      </p:sp>
      <p:sp>
        <p:nvSpPr>
          <p:cNvPr id="8" name="Text 3"/>
          <p:cNvSpPr/>
          <p:nvPr/>
        </p:nvSpPr>
        <p:spPr>
          <a:xfrm>
            <a:off x="6035040" y="4937760"/>
            <a:ext cx="5394960" cy="274320"/>
          </a:xfrm>
          <a:prstGeom prst="rect">
            <a:avLst/>
          </a:prstGeom>
          <a:noFill/>
          <a:ln/>
        </p:spPr>
        <p:txBody>
          <a:bodyPr wrap="square" rtlCol="0" anchor="ctr"/>
          <a:lstStyle/>
          <a:p>
            <a:pPr marL="0" indent="0">
              <a:buNone/>
            </a:pPr>
            <a:r>
              <a:rPr lang="en-US" sz="1100" b="1" dirty="0">
                <a:solidFill>
                  <a:srgbClr val="D9A441"/>
                </a:solidFill>
                <a:latin typeface="Calibri" pitchFamily="34" charset="0"/>
                <a:ea typeface="Calibri" pitchFamily="34" charset="-122"/>
                <a:cs typeface="Calibri" pitchFamily="34" charset="-120"/>
              </a:rPr>
              <a:t>INSIGHT CHÍNH</a:t>
            </a:r>
            <a:endParaRPr lang="en-US" sz="1100" dirty="0"/>
          </a:p>
        </p:txBody>
      </p:sp>
      <p:sp>
        <p:nvSpPr>
          <p:cNvPr id="9" name="Text 4"/>
          <p:cNvSpPr/>
          <p:nvPr/>
        </p:nvSpPr>
        <p:spPr>
          <a:xfrm>
            <a:off x="6035040" y="5230368"/>
            <a:ext cx="5394960" cy="960120"/>
          </a:xfrm>
          <a:prstGeom prst="rect">
            <a:avLst/>
          </a:prstGeom>
          <a:noFill/>
          <a:ln/>
        </p:spPr>
        <p:txBody>
          <a:bodyPr wrap="square" rtlCol="0" anchor="ctr"/>
          <a:lstStyle/>
          <a:p>
            <a:pPr marL="342900" indent="-342900">
              <a:lnSpc>
                <a:spcPct val="115000"/>
              </a:lnSpc>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AI có xu hướng thay thế TÁC VỤ hơn là thay thế toàn bộ nghề nghiệp.</a:t>
            </a:r>
            <a:endParaRPr lang="en-US" sz="1150" dirty="0"/>
          </a:p>
          <a:p>
            <a:pPr marL="342900" indent="-342900">
              <a:lnSpc>
                <a:spcPct val="115000"/>
              </a:lnSpc>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Khoảng cách rõ rệt giữa năng lực AI và mức sẵn sàng ở nhóm lao động chuyên môn cao.</a:t>
            </a:r>
            <a:endParaRPr lang="en-US" sz="1150" dirty="0"/>
          </a:p>
        </p:txBody>
      </p:sp>
      <p:sp>
        <p:nvSpPr>
          <p:cNvPr id="10" name="Text 5"/>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11" name="Text 6"/>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4 · TRỰC QUAN HOÁ DASHBOARD</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Dashboard — Tab Kinh tế (Economy)</a:t>
            </a:r>
            <a:endParaRPr lang="en-US" sz="3000" dirty="0"/>
          </a:p>
        </p:txBody>
      </p:sp>
      <p:pic>
        <p:nvPicPr>
          <p:cNvPr id="4" name="Image 0" descr="imgs/economy1.png"/>
          <p:cNvPicPr>
            <a:picLocks noChangeAspect="1"/>
          </p:cNvPicPr>
          <p:nvPr/>
        </p:nvPicPr>
        <p:blipFill>
          <a:blip r:embed="rId3"/>
          <a:stretch>
            <a:fillRect/>
          </a:stretch>
        </p:blipFill>
        <p:spPr>
          <a:xfrm>
            <a:off x="548640" y="1508760"/>
            <a:ext cx="6400800" cy="3136392"/>
          </a:xfrm>
          <a:prstGeom prst="rect">
            <a:avLst/>
          </a:prstGeom>
        </p:spPr>
      </p:pic>
      <p:pic>
        <p:nvPicPr>
          <p:cNvPr id="5" name="Image 1" descr="imgs/economy2.png"/>
          <p:cNvPicPr>
            <a:picLocks noChangeAspect="1"/>
          </p:cNvPicPr>
          <p:nvPr/>
        </p:nvPicPr>
        <p:blipFill>
          <a:blip r:embed="rId4"/>
          <a:stretch>
            <a:fillRect/>
          </a:stretch>
        </p:blipFill>
        <p:spPr>
          <a:xfrm>
            <a:off x="548640" y="4754880"/>
            <a:ext cx="6400800" cy="1481328"/>
          </a:xfrm>
          <a:prstGeom prst="rect">
            <a:avLst/>
          </a:prstGeom>
        </p:spPr>
      </p:pic>
      <p:sp>
        <p:nvSpPr>
          <p:cNvPr id="6" name="Shape 2"/>
          <p:cNvSpPr/>
          <p:nvPr/>
        </p:nvSpPr>
        <p:spPr>
          <a:xfrm>
            <a:off x="7223760" y="1508760"/>
            <a:ext cx="4434840" cy="4709160"/>
          </a:xfrm>
          <a:prstGeom prst="rect">
            <a:avLst/>
          </a:prstGeom>
          <a:solidFill>
            <a:srgbClr val="F4F5FA"/>
          </a:solidFill>
          <a:ln/>
        </p:spPr>
      </p:sp>
      <p:sp>
        <p:nvSpPr>
          <p:cNvPr id="7" name="Text 3"/>
          <p:cNvSpPr/>
          <p:nvPr/>
        </p:nvSpPr>
        <p:spPr>
          <a:xfrm>
            <a:off x="7498080" y="1737360"/>
            <a:ext cx="3931920" cy="29260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INSIGHT KINH TẾ</a:t>
            </a:r>
            <a:endParaRPr lang="en-US" sz="1300" dirty="0"/>
          </a:p>
        </p:txBody>
      </p:sp>
      <p:sp>
        <p:nvSpPr>
          <p:cNvPr id="8" name="Text 4"/>
          <p:cNvSpPr/>
          <p:nvPr/>
        </p:nvSpPr>
        <p:spPr>
          <a:xfrm>
            <a:off x="7498080" y="2148840"/>
            <a:ext cx="3931920" cy="3931920"/>
          </a:xfrm>
          <a:prstGeom prst="rect">
            <a:avLst/>
          </a:prstGeom>
          <a:noFill/>
          <a:ln/>
        </p:spPr>
        <p:txBody>
          <a:bodyPr wrap="square" rtlCol="0" anchor="ctr"/>
          <a:lstStyle/>
          <a:p>
            <a:pPr marL="342900" indent="-342900">
              <a:lnSpc>
                <a:spcPct val="120000"/>
              </a:lnSpc>
              <a:spcAft>
                <a:spcPts val="800"/>
              </a:spcAft>
              <a:buSzPct val="100000"/>
              <a:buChar char="•"/>
            </a:pPr>
            <a:r>
              <a:rPr lang="en-US" sz="1200" dirty="0">
                <a:solidFill>
                  <a:srgbClr val="27314D"/>
                </a:solidFill>
                <a:latin typeface="Calibri" pitchFamily="34" charset="0"/>
                <a:ea typeface="Calibri" pitchFamily="34" charset="-122"/>
                <a:cs typeface="Calibri" pitchFamily="34" charset="-120"/>
              </a:rPr>
              <a:t>WEI &amp; PEI định lượng quy mô lao động và quỹ lương chịu ảnh hưởng bởi AI theo từng nhóm nghề.</a:t>
            </a:r>
            <a:endParaRPr lang="en-US" sz="1200" dirty="0"/>
          </a:p>
          <a:p>
            <a:pPr marL="342900" indent="-342900">
              <a:lnSpc>
                <a:spcPct val="120000"/>
              </a:lnSpc>
              <a:spcAft>
                <a:spcPts val="800"/>
              </a:spcAft>
              <a:buSzPct val="100000"/>
              <a:buChar char="•"/>
            </a:pPr>
            <a:r>
              <a:rPr lang="en-US" sz="1200" dirty="0">
                <a:solidFill>
                  <a:srgbClr val="27314D"/>
                </a:solidFill>
                <a:latin typeface="Calibri" pitchFamily="34" charset="0"/>
                <a:ea typeface="Calibri" pitchFamily="34" charset="-122"/>
                <a:cs typeface="Calibri" pitchFamily="34" charset="-120"/>
              </a:rPr>
              <a:t>Economic Exposure (EE) tổng hợp CI, WEI, PEI phản ánh mức độ quan trọng của nghề đối với nền kinh tế.</a:t>
            </a:r>
            <a:endParaRPr lang="en-US" sz="1200" dirty="0"/>
          </a:p>
          <a:p>
            <a:pPr marL="342900" indent="-342900">
              <a:lnSpc>
                <a:spcPct val="120000"/>
              </a:lnSpc>
              <a:spcAft>
                <a:spcPts val="800"/>
              </a:spcAft>
              <a:buSzPct val="100000"/>
              <a:buChar char="•"/>
            </a:pPr>
            <a:r>
              <a:rPr lang="en-US" sz="1200" dirty="0">
                <a:solidFill>
                  <a:srgbClr val="27314D"/>
                </a:solidFill>
                <a:latin typeface="Calibri" pitchFamily="34" charset="0"/>
                <a:ea typeface="Calibri" pitchFamily="34" charset="-122"/>
                <a:cs typeface="Calibri" pitchFamily="34" charset="-120"/>
              </a:rPr>
              <a:t>Nhóm ưu tiên đầu tư (High Priority): WEI cao, CI thấp — tác động rộng, rủi ro kiểm soát thấp.</a:t>
            </a:r>
            <a:endParaRPr lang="en-US" sz="1200" dirty="0"/>
          </a:p>
          <a:p>
            <a:pPr marL="342900" indent="-342900">
              <a:lnSpc>
                <a:spcPct val="120000"/>
              </a:lnSpc>
              <a:spcAft>
                <a:spcPts val="800"/>
              </a:spcAft>
              <a:buSzPct val="100000"/>
              <a:buChar char="•"/>
            </a:pPr>
            <a:r>
              <a:rPr lang="en-US" sz="1200" dirty="0">
                <a:solidFill>
                  <a:srgbClr val="27314D"/>
                </a:solidFill>
                <a:latin typeface="Calibri" pitchFamily="34" charset="0"/>
                <a:ea typeface="Calibri" pitchFamily="34" charset="-122"/>
                <a:cs typeface="Calibri" pitchFamily="34" charset="-120"/>
              </a:rPr>
              <a:t>Nhóm cần giám sát thêm (Medium Priority): tác động kinh tế cao nhưng CI cũng cao.</a:t>
            </a:r>
            <a:endParaRPr lang="en-US" sz="1200" dirty="0"/>
          </a:p>
        </p:txBody>
      </p:sp>
      <p:sp>
        <p:nvSpPr>
          <p:cNvPr id="9" name="Text 5"/>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10" name="Text 6"/>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4 · PHÂN LOẠI CHIẾN LƯỢC</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Ma trận Chiến lược Chuyển đổi Nguồn nhân lực</a:t>
            </a:r>
            <a:endParaRPr lang="en-US" sz="3000" dirty="0"/>
          </a:p>
        </p:txBody>
      </p:sp>
      <p:pic>
        <p:nvPicPr>
          <p:cNvPr id="4" name="Image 0" descr="imgs/matrix_global.png"/>
          <p:cNvPicPr>
            <a:picLocks noChangeAspect="1"/>
          </p:cNvPicPr>
          <p:nvPr/>
        </p:nvPicPr>
        <p:blipFill>
          <a:blip r:embed="rId3"/>
          <a:stretch>
            <a:fillRect/>
          </a:stretch>
        </p:blipFill>
        <p:spPr>
          <a:xfrm>
            <a:off x="548640" y="1463040"/>
            <a:ext cx="5806440" cy="3840480"/>
          </a:xfrm>
          <a:prstGeom prst="rect">
            <a:avLst/>
          </a:prstGeom>
        </p:spPr>
      </p:pic>
      <p:sp>
        <p:nvSpPr>
          <p:cNvPr id="5" name="Text 2"/>
          <p:cNvSpPr/>
          <p:nvPr/>
        </p:nvSpPr>
        <p:spPr>
          <a:xfrm>
            <a:off x="548640" y="5349240"/>
            <a:ext cx="5806440" cy="27432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Hình: Ma trận chiến lược chuyển đổi (trục Cap × Read)</a:t>
            </a:r>
            <a:endParaRPr lang="en-US" sz="950" dirty="0"/>
          </a:p>
        </p:txBody>
      </p:sp>
      <p:sp>
        <p:nvSpPr>
          <p:cNvPr id="6" name="Shape 3"/>
          <p:cNvSpPr/>
          <p:nvPr/>
        </p:nvSpPr>
        <p:spPr>
          <a:xfrm>
            <a:off x="6583680" y="1463040"/>
            <a:ext cx="5029200" cy="987552"/>
          </a:xfrm>
          <a:prstGeom prst="rect">
            <a:avLst/>
          </a:prstGeom>
          <a:solidFill>
            <a:srgbClr val="F4F5FA"/>
          </a:solidFill>
          <a:ln/>
        </p:spPr>
      </p:sp>
      <p:sp>
        <p:nvSpPr>
          <p:cNvPr id="7" name="Shape 4"/>
          <p:cNvSpPr/>
          <p:nvPr/>
        </p:nvSpPr>
        <p:spPr>
          <a:xfrm>
            <a:off x="6583680" y="1463040"/>
            <a:ext cx="109728" cy="987552"/>
          </a:xfrm>
          <a:prstGeom prst="rect">
            <a:avLst/>
          </a:prstGeom>
          <a:solidFill>
            <a:srgbClr val="D9A441"/>
          </a:solidFill>
          <a:ln/>
        </p:spPr>
      </p:sp>
      <p:sp>
        <p:nvSpPr>
          <p:cNvPr id="8" name="Text 5"/>
          <p:cNvSpPr/>
          <p:nvPr/>
        </p:nvSpPr>
        <p:spPr>
          <a:xfrm>
            <a:off x="6858000" y="1536192"/>
            <a:ext cx="4663440" cy="32004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Q1 · Deploy AI Now</a:t>
            </a:r>
            <a:endParaRPr lang="en-US" sz="1300" dirty="0"/>
          </a:p>
        </p:txBody>
      </p:sp>
      <p:sp>
        <p:nvSpPr>
          <p:cNvPr id="9" name="Text 6"/>
          <p:cNvSpPr/>
          <p:nvPr/>
        </p:nvSpPr>
        <p:spPr>
          <a:xfrm>
            <a:off x="6858000" y="1847088"/>
            <a:ext cx="4663440" cy="256032"/>
          </a:xfrm>
          <a:prstGeom prst="rect">
            <a:avLst/>
          </a:prstGeom>
          <a:noFill/>
          <a:ln/>
        </p:spPr>
        <p:txBody>
          <a:bodyPr wrap="square"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18 nghề · 34,6%</a:t>
            </a:r>
            <a:endParaRPr lang="en-US" sz="1100" dirty="0"/>
          </a:p>
        </p:txBody>
      </p:sp>
      <p:sp>
        <p:nvSpPr>
          <p:cNvPr id="10" name="Text 7"/>
          <p:cNvSpPr/>
          <p:nvPr/>
        </p:nvSpPr>
        <p:spPr>
          <a:xfrm>
            <a:off x="6858000" y="2103120"/>
            <a:ext cx="4663440" cy="292608"/>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VD: Payroll &amp; Timekeeping Clerks, Tax Preparers</a:t>
            </a:r>
            <a:endParaRPr lang="en-US" sz="1000" dirty="0"/>
          </a:p>
        </p:txBody>
      </p:sp>
      <p:sp>
        <p:nvSpPr>
          <p:cNvPr id="11" name="Shape 8"/>
          <p:cNvSpPr/>
          <p:nvPr/>
        </p:nvSpPr>
        <p:spPr>
          <a:xfrm>
            <a:off x="6583680" y="2587752"/>
            <a:ext cx="5029200" cy="987552"/>
          </a:xfrm>
          <a:prstGeom prst="rect">
            <a:avLst/>
          </a:prstGeom>
          <a:solidFill>
            <a:srgbClr val="F4F5FA"/>
          </a:solidFill>
          <a:ln/>
        </p:spPr>
      </p:sp>
      <p:sp>
        <p:nvSpPr>
          <p:cNvPr id="12" name="Shape 9"/>
          <p:cNvSpPr/>
          <p:nvPr/>
        </p:nvSpPr>
        <p:spPr>
          <a:xfrm>
            <a:off x="6583680" y="2587752"/>
            <a:ext cx="109728" cy="987552"/>
          </a:xfrm>
          <a:prstGeom prst="rect">
            <a:avLst/>
          </a:prstGeom>
          <a:solidFill>
            <a:srgbClr val="1C7293"/>
          </a:solidFill>
          <a:ln/>
        </p:spPr>
      </p:sp>
      <p:sp>
        <p:nvSpPr>
          <p:cNvPr id="13" name="Text 10"/>
          <p:cNvSpPr/>
          <p:nvPr/>
        </p:nvSpPr>
        <p:spPr>
          <a:xfrm>
            <a:off x="6858000" y="2660904"/>
            <a:ext cx="4663440" cy="32004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Q2 · Reskill Workforce</a:t>
            </a:r>
            <a:endParaRPr lang="en-US" sz="1300" dirty="0"/>
          </a:p>
        </p:txBody>
      </p:sp>
      <p:sp>
        <p:nvSpPr>
          <p:cNvPr id="14" name="Text 11"/>
          <p:cNvSpPr/>
          <p:nvPr/>
        </p:nvSpPr>
        <p:spPr>
          <a:xfrm>
            <a:off x="6858000" y="2971800"/>
            <a:ext cx="4663440" cy="256032"/>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8 nghề · 15,4%</a:t>
            </a:r>
            <a:endParaRPr lang="en-US" sz="1100" dirty="0"/>
          </a:p>
        </p:txBody>
      </p:sp>
      <p:sp>
        <p:nvSpPr>
          <p:cNvPr id="15" name="Text 12"/>
          <p:cNvSpPr/>
          <p:nvPr/>
        </p:nvSpPr>
        <p:spPr>
          <a:xfrm>
            <a:off x="6858000" y="3227832"/>
            <a:ext cx="4663440" cy="292608"/>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VD: Proofreaders and Copy Markers, Travel Agents</a:t>
            </a:r>
            <a:endParaRPr lang="en-US" sz="1000" dirty="0"/>
          </a:p>
        </p:txBody>
      </p:sp>
      <p:sp>
        <p:nvSpPr>
          <p:cNvPr id="16" name="Shape 13"/>
          <p:cNvSpPr/>
          <p:nvPr/>
        </p:nvSpPr>
        <p:spPr>
          <a:xfrm>
            <a:off x="6583680" y="3712464"/>
            <a:ext cx="5029200" cy="987552"/>
          </a:xfrm>
          <a:prstGeom prst="rect">
            <a:avLst/>
          </a:prstGeom>
          <a:solidFill>
            <a:srgbClr val="F4F5FA"/>
          </a:solidFill>
          <a:ln/>
        </p:spPr>
      </p:sp>
      <p:sp>
        <p:nvSpPr>
          <p:cNvPr id="17" name="Shape 14"/>
          <p:cNvSpPr/>
          <p:nvPr/>
        </p:nvSpPr>
        <p:spPr>
          <a:xfrm>
            <a:off x="6583680" y="3712464"/>
            <a:ext cx="109728" cy="987552"/>
          </a:xfrm>
          <a:prstGeom prst="rect">
            <a:avLst/>
          </a:prstGeom>
          <a:solidFill>
            <a:srgbClr val="8A5AA6"/>
          </a:solidFill>
          <a:ln/>
        </p:spPr>
      </p:sp>
      <p:sp>
        <p:nvSpPr>
          <p:cNvPr id="18" name="Text 15"/>
          <p:cNvSpPr/>
          <p:nvPr/>
        </p:nvSpPr>
        <p:spPr>
          <a:xfrm>
            <a:off x="6858000" y="3785616"/>
            <a:ext cx="4663440" cy="32004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Q3 · Human–AI Collaboration</a:t>
            </a:r>
            <a:endParaRPr lang="en-US" sz="1300" dirty="0"/>
          </a:p>
        </p:txBody>
      </p:sp>
      <p:sp>
        <p:nvSpPr>
          <p:cNvPr id="19" name="Text 16"/>
          <p:cNvSpPr/>
          <p:nvPr/>
        </p:nvSpPr>
        <p:spPr>
          <a:xfrm>
            <a:off x="6858000" y="4096512"/>
            <a:ext cx="4663440" cy="256032"/>
          </a:xfrm>
          <a:prstGeom prst="rect">
            <a:avLst/>
          </a:prstGeom>
          <a:noFill/>
          <a:ln/>
        </p:spPr>
        <p:txBody>
          <a:bodyPr wrap="square" rtlCol="0" anchor="ctr"/>
          <a:lstStyle/>
          <a:p>
            <a:pPr marL="0" indent="0">
              <a:buNone/>
            </a:pPr>
            <a:r>
              <a:rPr lang="en-US" sz="1100" b="1" dirty="0">
                <a:solidFill>
                  <a:srgbClr val="8A5AA6"/>
                </a:solidFill>
                <a:latin typeface="Calibri" pitchFamily="34" charset="0"/>
                <a:ea typeface="Calibri" pitchFamily="34" charset="-122"/>
                <a:cs typeface="Calibri" pitchFamily="34" charset="-120"/>
              </a:rPr>
              <a:t>trung bình Cap, CI cao</a:t>
            </a:r>
            <a:endParaRPr lang="en-US" sz="1100" dirty="0"/>
          </a:p>
        </p:txBody>
      </p:sp>
      <p:sp>
        <p:nvSpPr>
          <p:cNvPr id="20" name="Text 17"/>
          <p:cNvSpPr/>
          <p:nvPr/>
        </p:nvSpPr>
        <p:spPr>
          <a:xfrm>
            <a:off x="6858000" y="4352544"/>
            <a:ext cx="4663440" cy="292608"/>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VD: Credit Analysts, Data Entry Keyers</a:t>
            </a:r>
            <a:endParaRPr lang="en-US" sz="1000" dirty="0"/>
          </a:p>
        </p:txBody>
      </p:sp>
      <p:sp>
        <p:nvSpPr>
          <p:cNvPr id="21" name="Shape 18"/>
          <p:cNvSpPr/>
          <p:nvPr/>
        </p:nvSpPr>
        <p:spPr>
          <a:xfrm>
            <a:off x="6583680" y="4837176"/>
            <a:ext cx="5029200" cy="987552"/>
          </a:xfrm>
          <a:prstGeom prst="rect">
            <a:avLst/>
          </a:prstGeom>
          <a:solidFill>
            <a:srgbClr val="F4F5FA"/>
          </a:solidFill>
          <a:ln/>
        </p:spPr>
      </p:sp>
      <p:sp>
        <p:nvSpPr>
          <p:cNvPr id="22" name="Shape 19"/>
          <p:cNvSpPr/>
          <p:nvPr/>
        </p:nvSpPr>
        <p:spPr>
          <a:xfrm>
            <a:off x="6583680" y="4837176"/>
            <a:ext cx="109728" cy="987552"/>
          </a:xfrm>
          <a:prstGeom prst="rect">
            <a:avLst/>
          </a:prstGeom>
          <a:solidFill>
            <a:srgbClr val="1E2761"/>
          </a:solidFill>
          <a:ln/>
        </p:spPr>
      </p:sp>
      <p:sp>
        <p:nvSpPr>
          <p:cNvPr id="23" name="Text 20"/>
          <p:cNvSpPr/>
          <p:nvPr/>
        </p:nvSpPr>
        <p:spPr>
          <a:xfrm>
            <a:off x="6858000" y="4910328"/>
            <a:ext cx="4663440" cy="32004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Q4 · Human-Centric</a:t>
            </a:r>
            <a:endParaRPr lang="en-US" sz="1300" dirty="0"/>
          </a:p>
        </p:txBody>
      </p:sp>
      <p:sp>
        <p:nvSpPr>
          <p:cNvPr id="24" name="Text 21"/>
          <p:cNvSpPr/>
          <p:nvPr/>
        </p:nvSpPr>
        <p:spPr>
          <a:xfrm>
            <a:off x="6858000" y="5221224"/>
            <a:ext cx="466344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18 nghề · 34,6%</a:t>
            </a:r>
            <a:endParaRPr lang="en-US" sz="1100" dirty="0"/>
          </a:p>
        </p:txBody>
      </p:sp>
      <p:sp>
        <p:nvSpPr>
          <p:cNvPr id="25" name="Text 22"/>
          <p:cNvSpPr/>
          <p:nvPr/>
        </p:nvSpPr>
        <p:spPr>
          <a:xfrm>
            <a:off x="6858000" y="5477256"/>
            <a:ext cx="4663440" cy="292608"/>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VD: Computer &amp; Information Systems Managers</a:t>
            </a:r>
            <a:endParaRPr lang="en-US" sz="1000" dirty="0"/>
          </a:p>
        </p:txBody>
      </p:sp>
      <p:sp>
        <p:nvSpPr>
          <p:cNvPr id="26" name="Text 23"/>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27" name="Text 24"/>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5 · HỆ THỐNG HỖ TRỢ RA QUYẾT ĐỊNH</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Decision Support System &amp; Recommendation Engine</a:t>
            </a:r>
            <a:endParaRPr lang="en-US" sz="3000" dirty="0"/>
          </a:p>
        </p:txBody>
      </p:sp>
      <p:sp>
        <p:nvSpPr>
          <p:cNvPr id="4" name="Shape 2"/>
          <p:cNvSpPr/>
          <p:nvPr/>
        </p:nvSpPr>
        <p:spPr>
          <a:xfrm>
            <a:off x="548640" y="1463040"/>
            <a:ext cx="11064240" cy="960120"/>
          </a:xfrm>
          <a:prstGeom prst="rect">
            <a:avLst/>
          </a:prstGeom>
          <a:solidFill>
            <a:srgbClr val="F4F5FA"/>
          </a:solidFill>
          <a:ln/>
        </p:spPr>
      </p:sp>
      <p:pic>
        <p:nvPicPr>
          <p:cNvPr id="5" name="Image 0" descr="imgs/logic_flow.png"/>
          <p:cNvPicPr>
            <a:picLocks noChangeAspect="1"/>
          </p:cNvPicPr>
          <p:nvPr/>
        </p:nvPicPr>
        <p:blipFill>
          <a:blip r:embed="rId3"/>
          <a:stretch>
            <a:fillRect/>
          </a:stretch>
        </p:blipFill>
        <p:spPr>
          <a:xfrm>
            <a:off x="777240" y="1600200"/>
            <a:ext cx="10607040" cy="685800"/>
          </a:xfrm>
          <a:prstGeom prst="rect">
            <a:avLst/>
          </a:prstGeom>
        </p:spPr>
      </p:pic>
      <p:sp>
        <p:nvSpPr>
          <p:cNvPr id="6" name="Text 3"/>
          <p:cNvSpPr/>
          <p:nvPr/>
        </p:nvSpPr>
        <p:spPr>
          <a:xfrm>
            <a:off x="548640" y="2606040"/>
            <a:ext cx="539496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KIẾN TRÚC 3 KHỐI</a:t>
            </a:r>
            <a:endParaRPr lang="en-US" sz="1250" dirty="0"/>
          </a:p>
        </p:txBody>
      </p:sp>
      <p:sp>
        <p:nvSpPr>
          <p:cNvPr id="7" name="Text 4"/>
          <p:cNvSpPr/>
          <p:nvPr/>
        </p:nvSpPr>
        <p:spPr>
          <a:xfrm>
            <a:off x="548640" y="2926080"/>
            <a:ext cx="5394960" cy="1371600"/>
          </a:xfrm>
          <a:prstGeom prst="rect">
            <a:avLst/>
          </a:prstGeom>
          <a:noFill/>
          <a:ln/>
        </p:spPr>
        <p:txBody>
          <a:bodyPr wrap="square" rtlCol="0" anchor="ctr"/>
          <a:lstStyle/>
          <a:p>
            <a:pPr marL="0" indent="0">
              <a:lnSpc>
                <a:spcPct val="120000"/>
              </a:lnSpc>
              <a:spcAft>
                <a:spcPts val="500"/>
              </a:spcAft>
              <a:buNone/>
            </a:pPr>
            <a:r>
              <a:rPr lang="en-US" sz="1150" b="1" dirty="0">
                <a:solidFill>
                  <a:srgbClr val="1E2761"/>
                </a:solidFill>
                <a:latin typeface="Calibri" pitchFamily="34" charset="0"/>
                <a:ea typeface="Calibri" pitchFamily="34" charset="-122"/>
                <a:cs typeface="Calibri" pitchFamily="34" charset="-120"/>
              </a:rPr>
              <a:t>Data Management: </a:t>
            </a:r>
            <a:r>
              <a:rPr lang="en-US" sz="1150" dirty="0">
                <a:solidFill>
                  <a:srgbClr val="27314D"/>
                </a:solidFill>
                <a:latin typeface="Calibri" pitchFamily="34" charset="0"/>
                <a:ea typeface="Calibri" pitchFamily="34" charset="-122"/>
                <a:cs typeface="Calibri" pitchFamily="34" charset="-120"/>
              </a:rPr>
              <a:t>occ_master — dữ liệu chuẩn hoá cấp nghề.</a:t>
            </a:r>
            <a:endParaRPr lang="en-US" sz="1150" dirty="0"/>
          </a:p>
          <a:p>
            <a:pPr marL="0" indent="0">
              <a:lnSpc>
                <a:spcPct val="120000"/>
              </a:lnSpc>
              <a:spcAft>
                <a:spcPts val="500"/>
              </a:spcAft>
              <a:buNone/>
            </a:pPr>
            <a:r>
              <a:rPr lang="en-US" sz="1150" b="1" dirty="0">
                <a:solidFill>
                  <a:srgbClr val="1E2761"/>
                </a:solidFill>
                <a:latin typeface="Calibri" pitchFamily="34" charset="0"/>
                <a:ea typeface="Calibri" pitchFamily="34" charset="-122"/>
                <a:cs typeface="Calibri" pitchFamily="34" charset="-120"/>
              </a:rPr>
              <a:t>Model Management: </a:t>
            </a:r>
            <a:r>
              <a:rPr lang="en-US" sz="1150" dirty="0">
                <a:solidFill>
                  <a:srgbClr val="27314D"/>
                </a:solidFill>
                <a:latin typeface="Calibri" pitchFamily="34" charset="0"/>
                <a:ea typeface="Calibri" pitchFamily="34" charset="-122"/>
                <a:cs typeface="Calibri" pitchFamily="34" charset="-120"/>
              </a:rPr>
              <a:t>hiệu chỉnh bối cảnh VN (Cap_VN, Read_VN, WFI_VN) + suy luận theo luật.</a:t>
            </a:r>
            <a:endParaRPr lang="en-US" sz="1150" dirty="0"/>
          </a:p>
          <a:p>
            <a:pPr marL="0" indent="0">
              <a:lnSpc>
                <a:spcPct val="120000"/>
              </a:lnSpc>
              <a:spcAft>
                <a:spcPts val="500"/>
              </a:spcAft>
              <a:buNone/>
            </a:pPr>
            <a:r>
              <a:rPr lang="en-US" sz="1150" b="1" dirty="0">
                <a:solidFill>
                  <a:srgbClr val="1E2761"/>
                </a:solidFill>
                <a:latin typeface="Calibri" pitchFamily="34" charset="0"/>
                <a:ea typeface="Calibri" pitchFamily="34" charset="-122"/>
                <a:cs typeface="Calibri" pitchFamily="34" charset="-120"/>
              </a:rPr>
              <a:t>Dialog/UI: </a:t>
            </a:r>
            <a:r>
              <a:rPr lang="en-US" sz="1150" dirty="0">
                <a:solidFill>
                  <a:srgbClr val="27314D"/>
                </a:solidFill>
                <a:latin typeface="Calibri" pitchFamily="34" charset="0"/>
                <a:ea typeface="Calibri" pitchFamily="34" charset="-122"/>
                <a:cs typeface="Calibri" pitchFamily="34" charset="-120"/>
              </a:rPr>
              <a:t>ipywidgets — slider TRP/PRP/IRP, cập nhật kết quả thời gian thực.</a:t>
            </a:r>
            <a:endParaRPr lang="en-US" sz="1150" dirty="0"/>
          </a:p>
        </p:txBody>
      </p:sp>
      <p:sp>
        <p:nvSpPr>
          <p:cNvPr id="8" name="Text 5"/>
          <p:cNvSpPr/>
          <p:nvPr/>
        </p:nvSpPr>
        <p:spPr>
          <a:xfrm>
            <a:off x="548640" y="4343400"/>
            <a:ext cx="5394960" cy="1691640"/>
          </a:xfrm>
          <a:prstGeom prst="rect">
            <a:avLst/>
          </a:prstGeom>
          <a:noFill/>
          <a:ln/>
        </p:spPr>
        <p:txBody>
          <a:bodyPr wrap="square" rtlCol="0" anchor="ctr"/>
          <a:lstStyle/>
          <a:p>
            <a:pPr marL="0" indent="0">
              <a:lnSpc>
                <a:spcPct val="120000"/>
              </a:lnSpc>
              <a:buNone/>
            </a:pPr>
            <a:r>
              <a:rPr lang="en-US" sz="1150" dirty="0">
                <a:solidFill>
                  <a:srgbClr val="27314D"/>
                </a:solidFill>
                <a:latin typeface="Calibri" pitchFamily="34" charset="0"/>
                <a:ea typeface="Calibri" pitchFamily="34" charset="-122"/>
                <a:cs typeface="Calibri" pitchFamily="34" charset="-120"/>
              </a:rPr>
              <a:t>Rule-based Engine (if-else) minh bạch, giải trình được — phù hợp quy mô 34 nghề, thay vì mô hình học máy "hộp đen". Hai lớp luật: (1) chiến lược cốt lõi Deploy AI / Reskill / Human-Centric theo ngưỡng median; (2) cờ cảnh báo Human-in-the-loop khi CI thuộc top 25%, áp dụng độc lập, chồng lên lớp 1.</a:t>
            </a:r>
            <a:endParaRPr lang="en-US" sz="1150" dirty="0"/>
          </a:p>
        </p:txBody>
      </p:sp>
      <p:sp>
        <p:nvSpPr>
          <p:cNvPr id="9" name="Text 6"/>
          <p:cNvSpPr/>
          <p:nvPr/>
        </p:nvSpPr>
        <p:spPr>
          <a:xfrm>
            <a:off x="6309360" y="2606040"/>
            <a:ext cx="530352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PHÂN BỐ KHUYẾN NGHỊ (KỊCH BẢN NỀN)</a:t>
            </a:r>
            <a:endParaRPr lang="en-US" sz="1250" dirty="0"/>
          </a:p>
        </p:txBody>
      </p:sp>
      <p:sp>
        <p:nvSpPr>
          <p:cNvPr id="10" name="Shape 7"/>
          <p:cNvSpPr/>
          <p:nvPr/>
        </p:nvSpPr>
        <p:spPr>
          <a:xfrm>
            <a:off x="6309360" y="2971800"/>
            <a:ext cx="5303520" cy="512064"/>
          </a:xfrm>
          <a:prstGeom prst="rect">
            <a:avLst/>
          </a:prstGeom>
          <a:solidFill>
            <a:srgbClr val="F4F5FA"/>
          </a:solidFill>
          <a:ln/>
        </p:spPr>
      </p:sp>
      <p:sp>
        <p:nvSpPr>
          <p:cNvPr id="11" name="Text 8"/>
          <p:cNvSpPr/>
          <p:nvPr/>
        </p:nvSpPr>
        <p:spPr>
          <a:xfrm>
            <a:off x="6492240" y="2971800"/>
            <a:ext cx="2743200" cy="512064"/>
          </a:xfrm>
          <a:prstGeom prst="rect">
            <a:avLst/>
          </a:prstGeom>
          <a:noFill/>
          <a:ln/>
        </p:spPr>
        <p:txBody>
          <a:bodyPr wrap="square" rtlCol="0" anchor="ctr"/>
          <a:lstStyle/>
          <a:p>
            <a:pPr marL="0" indent="0">
              <a:buNone/>
            </a:pPr>
            <a:r>
              <a:rPr lang="en-US" sz="1150" b="1" dirty="0">
                <a:solidFill>
                  <a:srgbClr val="27314D"/>
                </a:solidFill>
                <a:latin typeface="Calibri" pitchFamily="34" charset="0"/>
                <a:ea typeface="Calibri" pitchFamily="34" charset="-122"/>
                <a:cs typeface="Calibri" pitchFamily="34" charset="-120"/>
              </a:rPr>
              <a:t>Human-Centric</a:t>
            </a:r>
            <a:endParaRPr lang="en-US" sz="1150" dirty="0"/>
          </a:p>
        </p:txBody>
      </p:sp>
      <p:sp>
        <p:nvSpPr>
          <p:cNvPr id="12" name="Shape 9"/>
          <p:cNvSpPr/>
          <p:nvPr/>
        </p:nvSpPr>
        <p:spPr>
          <a:xfrm>
            <a:off x="9326880" y="3090672"/>
            <a:ext cx="1472184" cy="274320"/>
          </a:xfrm>
          <a:prstGeom prst="rect">
            <a:avLst/>
          </a:prstGeom>
          <a:solidFill>
            <a:srgbClr val="D9A441"/>
          </a:solidFill>
          <a:ln/>
        </p:spPr>
      </p:sp>
      <p:sp>
        <p:nvSpPr>
          <p:cNvPr id="13" name="Text 10"/>
          <p:cNvSpPr/>
          <p:nvPr/>
        </p:nvSpPr>
        <p:spPr>
          <a:xfrm>
            <a:off x="11109960" y="2971800"/>
            <a:ext cx="457200" cy="512064"/>
          </a:xfrm>
          <a:prstGeom prst="rect">
            <a:avLst/>
          </a:prstGeom>
          <a:noFill/>
          <a:ln/>
        </p:spPr>
        <p:txBody>
          <a:bodyPr wrap="square" rtlCol="0" anchor="ctr"/>
          <a:lstStyle/>
          <a:p>
            <a:pPr marL="0" indent="0" algn="r">
              <a:buNone/>
            </a:pPr>
            <a:r>
              <a:rPr lang="en-US" sz="1100" b="1" dirty="0">
                <a:solidFill>
                  <a:srgbClr val="1E2761"/>
                </a:solidFill>
                <a:latin typeface="Calibri" pitchFamily="34" charset="0"/>
                <a:ea typeface="Calibri" pitchFamily="34" charset="-122"/>
                <a:cs typeface="Calibri" pitchFamily="34" charset="-120"/>
              </a:rPr>
              <a:t>70,6%</a:t>
            </a:r>
            <a:endParaRPr lang="en-US" sz="1100" dirty="0"/>
          </a:p>
        </p:txBody>
      </p:sp>
      <p:sp>
        <p:nvSpPr>
          <p:cNvPr id="14" name="Shape 11"/>
          <p:cNvSpPr/>
          <p:nvPr/>
        </p:nvSpPr>
        <p:spPr>
          <a:xfrm>
            <a:off x="6309360" y="3575304"/>
            <a:ext cx="5303520" cy="512064"/>
          </a:xfrm>
          <a:prstGeom prst="rect">
            <a:avLst/>
          </a:prstGeom>
          <a:solidFill>
            <a:srgbClr val="FFFFFF"/>
          </a:solidFill>
          <a:ln/>
        </p:spPr>
      </p:sp>
      <p:sp>
        <p:nvSpPr>
          <p:cNvPr id="15" name="Text 12"/>
          <p:cNvSpPr/>
          <p:nvPr/>
        </p:nvSpPr>
        <p:spPr>
          <a:xfrm>
            <a:off x="6492240" y="3575304"/>
            <a:ext cx="2743200" cy="512064"/>
          </a:xfrm>
          <a:prstGeom prst="rect">
            <a:avLst/>
          </a:prstGeom>
          <a:noFill/>
          <a:ln/>
        </p:spPr>
        <p:txBody>
          <a:bodyPr wrap="square" rtlCol="0" anchor="ctr"/>
          <a:lstStyle/>
          <a:p>
            <a:pPr marL="0" indent="0">
              <a:buNone/>
            </a:pPr>
            <a:r>
              <a:rPr lang="en-US" sz="1150" b="1" dirty="0">
                <a:solidFill>
                  <a:srgbClr val="27314D"/>
                </a:solidFill>
                <a:latin typeface="Calibri" pitchFamily="34" charset="0"/>
                <a:ea typeface="Calibri" pitchFamily="34" charset="-122"/>
                <a:cs typeface="Calibri" pitchFamily="34" charset="-120"/>
              </a:rPr>
              <a:t>Reskill Workforce</a:t>
            </a:r>
            <a:endParaRPr lang="en-US" sz="1150" dirty="0"/>
          </a:p>
        </p:txBody>
      </p:sp>
      <p:sp>
        <p:nvSpPr>
          <p:cNvPr id="16" name="Shape 13"/>
          <p:cNvSpPr/>
          <p:nvPr/>
        </p:nvSpPr>
        <p:spPr>
          <a:xfrm>
            <a:off x="9326880" y="3694176"/>
            <a:ext cx="231343" cy="274320"/>
          </a:xfrm>
          <a:prstGeom prst="rect">
            <a:avLst/>
          </a:prstGeom>
          <a:solidFill>
            <a:srgbClr val="D9A441"/>
          </a:solidFill>
          <a:ln/>
        </p:spPr>
      </p:sp>
      <p:sp>
        <p:nvSpPr>
          <p:cNvPr id="17" name="Text 14"/>
          <p:cNvSpPr/>
          <p:nvPr/>
        </p:nvSpPr>
        <p:spPr>
          <a:xfrm>
            <a:off x="11109960" y="3575304"/>
            <a:ext cx="457200" cy="512064"/>
          </a:xfrm>
          <a:prstGeom prst="rect">
            <a:avLst/>
          </a:prstGeom>
          <a:noFill/>
          <a:ln/>
        </p:spPr>
        <p:txBody>
          <a:bodyPr wrap="square" rtlCol="0" anchor="ctr"/>
          <a:lstStyle/>
          <a:p>
            <a:pPr marL="0" indent="0" algn="r">
              <a:buNone/>
            </a:pPr>
            <a:r>
              <a:rPr lang="en-US" sz="1100" b="1" dirty="0">
                <a:solidFill>
                  <a:srgbClr val="1E2761"/>
                </a:solidFill>
                <a:latin typeface="Calibri" pitchFamily="34" charset="0"/>
                <a:ea typeface="Calibri" pitchFamily="34" charset="-122"/>
                <a:cs typeface="Calibri" pitchFamily="34" charset="-120"/>
              </a:rPr>
              <a:t>11,8%</a:t>
            </a:r>
            <a:endParaRPr lang="en-US" sz="1100" dirty="0"/>
          </a:p>
        </p:txBody>
      </p:sp>
      <p:sp>
        <p:nvSpPr>
          <p:cNvPr id="18" name="Shape 15"/>
          <p:cNvSpPr/>
          <p:nvPr/>
        </p:nvSpPr>
        <p:spPr>
          <a:xfrm>
            <a:off x="6309360" y="4178808"/>
            <a:ext cx="5303520" cy="512064"/>
          </a:xfrm>
          <a:prstGeom prst="rect">
            <a:avLst/>
          </a:prstGeom>
          <a:solidFill>
            <a:srgbClr val="F4F5FA"/>
          </a:solidFill>
          <a:ln/>
        </p:spPr>
      </p:sp>
      <p:sp>
        <p:nvSpPr>
          <p:cNvPr id="19" name="Text 16"/>
          <p:cNvSpPr/>
          <p:nvPr/>
        </p:nvSpPr>
        <p:spPr>
          <a:xfrm>
            <a:off x="6492240" y="4178808"/>
            <a:ext cx="2743200" cy="512064"/>
          </a:xfrm>
          <a:prstGeom prst="rect">
            <a:avLst/>
          </a:prstGeom>
          <a:noFill/>
          <a:ln/>
        </p:spPr>
        <p:txBody>
          <a:bodyPr wrap="square" rtlCol="0" anchor="ctr"/>
          <a:lstStyle/>
          <a:p>
            <a:pPr marL="0" indent="0">
              <a:buNone/>
            </a:pPr>
            <a:r>
              <a:rPr lang="en-US" sz="1150" b="1" dirty="0">
                <a:solidFill>
                  <a:srgbClr val="27314D"/>
                </a:solidFill>
                <a:latin typeface="Calibri" pitchFamily="34" charset="0"/>
                <a:ea typeface="Calibri" pitchFamily="34" charset="-122"/>
                <a:cs typeface="Calibri" pitchFamily="34" charset="-120"/>
              </a:rPr>
              <a:t>Deploy AI + HITL</a:t>
            </a:r>
            <a:endParaRPr lang="en-US" sz="1150" dirty="0"/>
          </a:p>
        </p:txBody>
      </p:sp>
      <p:sp>
        <p:nvSpPr>
          <p:cNvPr id="20" name="Shape 17"/>
          <p:cNvSpPr/>
          <p:nvPr/>
        </p:nvSpPr>
        <p:spPr>
          <a:xfrm>
            <a:off x="9326880" y="4297680"/>
            <a:ext cx="168250" cy="274320"/>
          </a:xfrm>
          <a:prstGeom prst="rect">
            <a:avLst/>
          </a:prstGeom>
          <a:solidFill>
            <a:srgbClr val="D9A441"/>
          </a:solidFill>
          <a:ln/>
        </p:spPr>
      </p:sp>
      <p:sp>
        <p:nvSpPr>
          <p:cNvPr id="21" name="Text 18"/>
          <p:cNvSpPr/>
          <p:nvPr/>
        </p:nvSpPr>
        <p:spPr>
          <a:xfrm>
            <a:off x="11109960" y="4178808"/>
            <a:ext cx="457200" cy="512064"/>
          </a:xfrm>
          <a:prstGeom prst="rect">
            <a:avLst/>
          </a:prstGeom>
          <a:noFill/>
          <a:ln/>
        </p:spPr>
        <p:txBody>
          <a:bodyPr wrap="square" rtlCol="0" anchor="ctr"/>
          <a:lstStyle/>
          <a:p>
            <a:pPr marL="0" indent="0" algn="r">
              <a:buNone/>
            </a:pPr>
            <a:r>
              <a:rPr lang="en-US" sz="1100" b="1" dirty="0">
                <a:solidFill>
                  <a:srgbClr val="1E2761"/>
                </a:solidFill>
                <a:latin typeface="Calibri" pitchFamily="34" charset="0"/>
                <a:ea typeface="Calibri" pitchFamily="34" charset="-122"/>
                <a:cs typeface="Calibri" pitchFamily="34" charset="-120"/>
              </a:rPr>
              <a:t>8,8%</a:t>
            </a:r>
            <a:endParaRPr lang="en-US" sz="1100" dirty="0"/>
          </a:p>
        </p:txBody>
      </p:sp>
      <p:sp>
        <p:nvSpPr>
          <p:cNvPr id="22" name="Shape 19"/>
          <p:cNvSpPr/>
          <p:nvPr/>
        </p:nvSpPr>
        <p:spPr>
          <a:xfrm>
            <a:off x="6309360" y="4782312"/>
            <a:ext cx="5303520" cy="512064"/>
          </a:xfrm>
          <a:prstGeom prst="rect">
            <a:avLst/>
          </a:prstGeom>
          <a:solidFill>
            <a:srgbClr val="FFFFFF"/>
          </a:solidFill>
          <a:ln/>
        </p:spPr>
      </p:sp>
      <p:sp>
        <p:nvSpPr>
          <p:cNvPr id="23" name="Text 20"/>
          <p:cNvSpPr/>
          <p:nvPr/>
        </p:nvSpPr>
        <p:spPr>
          <a:xfrm>
            <a:off x="6492240" y="4782312"/>
            <a:ext cx="2743200" cy="512064"/>
          </a:xfrm>
          <a:prstGeom prst="rect">
            <a:avLst/>
          </a:prstGeom>
          <a:noFill/>
          <a:ln/>
        </p:spPr>
        <p:txBody>
          <a:bodyPr wrap="square" rtlCol="0" anchor="ctr"/>
          <a:lstStyle/>
          <a:p>
            <a:pPr marL="0" indent="0">
              <a:buNone/>
            </a:pPr>
            <a:r>
              <a:rPr lang="en-US" sz="1150" b="1" dirty="0">
                <a:solidFill>
                  <a:srgbClr val="27314D"/>
                </a:solidFill>
                <a:latin typeface="Calibri" pitchFamily="34" charset="0"/>
                <a:ea typeface="Calibri" pitchFamily="34" charset="-122"/>
                <a:cs typeface="Calibri" pitchFamily="34" charset="-120"/>
              </a:rPr>
              <a:t>Reskill + HITL</a:t>
            </a:r>
            <a:endParaRPr lang="en-US" sz="1150" dirty="0"/>
          </a:p>
        </p:txBody>
      </p:sp>
      <p:sp>
        <p:nvSpPr>
          <p:cNvPr id="24" name="Shape 21"/>
          <p:cNvSpPr/>
          <p:nvPr/>
        </p:nvSpPr>
        <p:spPr>
          <a:xfrm>
            <a:off x="9326880" y="4901184"/>
            <a:ext cx="137160" cy="274320"/>
          </a:xfrm>
          <a:prstGeom prst="rect">
            <a:avLst/>
          </a:prstGeom>
          <a:solidFill>
            <a:srgbClr val="D9A441"/>
          </a:solidFill>
          <a:ln/>
        </p:spPr>
      </p:sp>
      <p:sp>
        <p:nvSpPr>
          <p:cNvPr id="25" name="Text 22"/>
          <p:cNvSpPr/>
          <p:nvPr/>
        </p:nvSpPr>
        <p:spPr>
          <a:xfrm>
            <a:off x="11109960" y="4782312"/>
            <a:ext cx="457200" cy="512064"/>
          </a:xfrm>
          <a:prstGeom prst="rect">
            <a:avLst/>
          </a:prstGeom>
          <a:noFill/>
          <a:ln/>
        </p:spPr>
        <p:txBody>
          <a:bodyPr wrap="square" rtlCol="0" anchor="ctr"/>
          <a:lstStyle/>
          <a:p>
            <a:pPr marL="0" indent="0" algn="r">
              <a:buNone/>
            </a:pPr>
            <a:r>
              <a:rPr lang="en-US" sz="1100" b="1" dirty="0">
                <a:solidFill>
                  <a:srgbClr val="1E2761"/>
                </a:solidFill>
                <a:latin typeface="Calibri" pitchFamily="34" charset="0"/>
                <a:ea typeface="Calibri" pitchFamily="34" charset="-122"/>
                <a:cs typeface="Calibri" pitchFamily="34" charset="-120"/>
              </a:rPr>
              <a:t>5,9%</a:t>
            </a:r>
            <a:endParaRPr lang="en-US" sz="1100" dirty="0"/>
          </a:p>
        </p:txBody>
      </p:sp>
      <p:sp>
        <p:nvSpPr>
          <p:cNvPr id="26" name="Shape 23"/>
          <p:cNvSpPr/>
          <p:nvPr/>
        </p:nvSpPr>
        <p:spPr>
          <a:xfrm>
            <a:off x="6309360" y="5385816"/>
            <a:ext cx="5303520" cy="512064"/>
          </a:xfrm>
          <a:prstGeom prst="rect">
            <a:avLst/>
          </a:prstGeom>
          <a:solidFill>
            <a:srgbClr val="F4F5FA"/>
          </a:solidFill>
          <a:ln/>
        </p:spPr>
      </p:sp>
      <p:sp>
        <p:nvSpPr>
          <p:cNvPr id="27" name="Text 24"/>
          <p:cNvSpPr/>
          <p:nvPr/>
        </p:nvSpPr>
        <p:spPr>
          <a:xfrm>
            <a:off x="6492240" y="5385816"/>
            <a:ext cx="2743200" cy="512064"/>
          </a:xfrm>
          <a:prstGeom prst="rect">
            <a:avLst/>
          </a:prstGeom>
          <a:noFill/>
          <a:ln/>
        </p:spPr>
        <p:txBody>
          <a:bodyPr wrap="square" rtlCol="0" anchor="ctr"/>
          <a:lstStyle/>
          <a:p>
            <a:pPr marL="0" indent="0">
              <a:buNone/>
            </a:pPr>
            <a:r>
              <a:rPr lang="en-US" sz="1150" b="1" dirty="0">
                <a:solidFill>
                  <a:srgbClr val="27314D"/>
                </a:solidFill>
                <a:latin typeface="Calibri" pitchFamily="34" charset="0"/>
                <a:ea typeface="Calibri" pitchFamily="34" charset="-122"/>
                <a:cs typeface="Calibri" pitchFamily="34" charset="-120"/>
              </a:rPr>
              <a:t>Deploy AI</a:t>
            </a:r>
            <a:endParaRPr lang="en-US" sz="1150" dirty="0"/>
          </a:p>
        </p:txBody>
      </p:sp>
      <p:sp>
        <p:nvSpPr>
          <p:cNvPr id="28" name="Shape 25"/>
          <p:cNvSpPr/>
          <p:nvPr/>
        </p:nvSpPr>
        <p:spPr>
          <a:xfrm>
            <a:off x="9326880" y="5504688"/>
            <a:ext cx="137160" cy="274320"/>
          </a:xfrm>
          <a:prstGeom prst="rect">
            <a:avLst/>
          </a:prstGeom>
          <a:solidFill>
            <a:srgbClr val="D9A441"/>
          </a:solidFill>
          <a:ln/>
        </p:spPr>
      </p:sp>
      <p:sp>
        <p:nvSpPr>
          <p:cNvPr id="29" name="Text 26"/>
          <p:cNvSpPr/>
          <p:nvPr/>
        </p:nvSpPr>
        <p:spPr>
          <a:xfrm>
            <a:off x="11109960" y="5385816"/>
            <a:ext cx="457200" cy="512064"/>
          </a:xfrm>
          <a:prstGeom prst="rect">
            <a:avLst/>
          </a:prstGeom>
          <a:noFill/>
          <a:ln/>
        </p:spPr>
        <p:txBody>
          <a:bodyPr wrap="square" rtlCol="0" anchor="ctr"/>
          <a:lstStyle/>
          <a:p>
            <a:pPr marL="0" indent="0" algn="r">
              <a:buNone/>
            </a:pPr>
            <a:r>
              <a:rPr lang="en-US" sz="1100" b="1" dirty="0">
                <a:solidFill>
                  <a:srgbClr val="1E2761"/>
                </a:solidFill>
                <a:latin typeface="Calibri" pitchFamily="34" charset="0"/>
                <a:ea typeface="Calibri" pitchFamily="34" charset="-122"/>
                <a:cs typeface="Calibri" pitchFamily="34" charset="-120"/>
              </a:rPr>
              <a:t>2,9%</a:t>
            </a:r>
            <a:endParaRPr lang="en-US" sz="1100" dirty="0"/>
          </a:p>
        </p:txBody>
      </p:sp>
      <p:sp>
        <p:nvSpPr>
          <p:cNvPr id="30" name="Text 27"/>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31" name="Text 28"/>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5 · MÔ PHỎNG KỊCH BẢN</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Kịch bản Việt Nam: Phát hiện chính (WFI_VN)</a:t>
            </a:r>
            <a:endParaRPr lang="en-US" sz="3000" dirty="0"/>
          </a:p>
        </p:txBody>
      </p:sp>
      <p:pic>
        <p:nvPicPr>
          <p:cNvPr id="4" name="Image 0" descr="imgs/wfi_vn_compare.png"/>
          <p:cNvPicPr>
            <a:picLocks noChangeAspect="1"/>
          </p:cNvPicPr>
          <p:nvPr/>
        </p:nvPicPr>
        <p:blipFill>
          <a:blip r:embed="rId3"/>
          <a:stretch>
            <a:fillRect/>
          </a:stretch>
        </p:blipFill>
        <p:spPr>
          <a:xfrm>
            <a:off x="548640" y="1463040"/>
            <a:ext cx="6035040" cy="2779776"/>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6035040" cy="1417320"/>
        </p:xfrm>
        <a:graphic>
          <a:graphicData uri="http://schemas.openxmlformats.org/drawingml/2006/table">
            <a:tbl>
              <a:tblPr/>
              <a:tblGrid>
                <a:gridCol w="23317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5433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Nghề</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WFI toàn cầu</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WFI_VN</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Giảm</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E2761"/>
                    </a:solidFill>
                  </a:tcPr>
                </a:tc>
                <a:extLst>
                  <a:ext uri="{0D108BD9-81ED-4DB2-BD59-A6C34878D82A}">
                    <a16:rowId xmlns:a16="http://schemas.microsoft.com/office/drawing/2014/main" val="10000"/>
                  </a:ext>
                </a:extLst>
              </a:tr>
              <a:tr h="354330">
                <a:tc>
                  <a:txBody>
                    <a:bodyPr/>
                    <a:lstStyle/>
                    <a:p>
                      <a:pPr marL="0" indent="0" algn="l">
                        <a:buNone/>
                      </a:pPr>
                      <a:r>
                        <a:rPr lang="en-US" sz="1050" dirty="0">
                          <a:solidFill>
                            <a:srgbClr val="27314D"/>
                          </a:solidFill>
                          <a:latin typeface="Calibri" pitchFamily="34" charset="0"/>
                          <a:ea typeface="Calibri" pitchFamily="34" charset="-122"/>
                          <a:cs typeface="Calibri" pitchFamily="34" charset="-120"/>
                        </a:rPr>
                        <a:t>Cost Estimators</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0,688</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0,344</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54330">
                <a:tc>
                  <a:txBody>
                    <a:bodyPr/>
                    <a:lstStyle/>
                    <a:p>
                      <a:pPr marL="0" indent="0" algn="l">
                        <a:buNone/>
                      </a:pPr>
                      <a:r>
                        <a:rPr lang="en-US" sz="1050" dirty="0">
                          <a:solidFill>
                            <a:srgbClr val="27314D"/>
                          </a:solidFill>
                          <a:latin typeface="Calibri" pitchFamily="34" charset="0"/>
                          <a:ea typeface="Calibri" pitchFamily="34" charset="-122"/>
                          <a:cs typeface="Calibri" pitchFamily="34" charset="-120"/>
                        </a:rPr>
                        <a:t>Accountants &amp; Auditors</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5FA"/>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0,667</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5FA"/>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0,323</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5FA"/>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−51,5%</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5FA"/>
                    </a:solidFill>
                  </a:tcPr>
                </a:tc>
                <a:extLst>
                  <a:ext uri="{0D108BD9-81ED-4DB2-BD59-A6C34878D82A}">
                    <a16:rowId xmlns:a16="http://schemas.microsoft.com/office/drawing/2014/main" val="10002"/>
                  </a:ext>
                </a:extLst>
              </a:tr>
              <a:tr h="354330">
                <a:tc>
                  <a:txBody>
                    <a:bodyPr/>
                    <a:lstStyle/>
                    <a:p>
                      <a:pPr marL="0" indent="0" algn="l">
                        <a:buNone/>
                      </a:pPr>
                      <a:r>
                        <a:rPr lang="en-US" sz="1050" dirty="0">
                          <a:solidFill>
                            <a:srgbClr val="27314D"/>
                          </a:solidFill>
                          <a:latin typeface="Calibri" pitchFamily="34" charset="0"/>
                          <a:ea typeface="Calibri" pitchFamily="34" charset="-122"/>
                          <a:cs typeface="Calibri" pitchFamily="34" charset="-120"/>
                        </a:rPr>
                        <a:t>Management Analysts</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0,492</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0,213</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27314D"/>
                          </a:solidFill>
                          <a:latin typeface="Calibri" pitchFamily="34" charset="0"/>
                          <a:ea typeface="Calibri" pitchFamily="34" charset="-122"/>
                          <a:cs typeface="Calibri" pitchFamily="34" charset="-120"/>
                        </a:rPr>
                        <a:t>−56,7%</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6858000" y="1463040"/>
            <a:ext cx="4754880" cy="5303520"/>
          </a:xfrm>
          <a:prstGeom prst="rect">
            <a:avLst/>
          </a:prstGeom>
          <a:solidFill>
            <a:srgbClr val="F4F5FA"/>
          </a:solidFill>
          <a:ln/>
        </p:spPr>
      </p:sp>
      <p:sp>
        <p:nvSpPr>
          <p:cNvPr id="7" name="Text 3"/>
          <p:cNvSpPr/>
          <p:nvPr/>
        </p:nvSpPr>
        <p:spPr>
          <a:xfrm>
            <a:off x="7132320" y="1645920"/>
            <a:ext cx="4206240" cy="29260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HAI PHÁT HIỆN CHÍNH</a:t>
            </a:r>
            <a:endParaRPr lang="en-US" sz="1300" dirty="0"/>
          </a:p>
        </p:txBody>
      </p:sp>
      <p:sp>
        <p:nvSpPr>
          <p:cNvPr id="8" name="Text 4"/>
          <p:cNvSpPr/>
          <p:nvPr/>
        </p:nvSpPr>
        <p:spPr>
          <a:xfrm>
            <a:off x="7132320" y="2057400"/>
            <a:ext cx="4206240" cy="1965960"/>
          </a:xfrm>
          <a:prstGeom prst="rect">
            <a:avLst/>
          </a:prstGeom>
          <a:noFill/>
          <a:ln/>
        </p:spPr>
        <p:txBody>
          <a:bodyPr wrap="square" rtlCol="0" anchor="ctr"/>
          <a:lstStyle/>
          <a:p>
            <a:pPr marL="0" indent="0">
              <a:lnSpc>
                <a:spcPct val="120000"/>
              </a:lnSpc>
              <a:spcAft>
                <a:spcPts val="800"/>
              </a:spcAft>
              <a:buNone/>
            </a:pPr>
            <a:r>
              <a:rPr lang="en-US" sz="1200" b="1" dirty="0">
                <a:solidFill>
                  <a:srgbClr val="1E2761"/>
                </a:solidFill>
                <a:latin typeface="Calibri" pitchFamily="34" charset="0"/>
                <a:ea typeface="Calibri" pitchFamily="34" charset="-122"/>
                <a:cs typeface="Calibri" pitchFamily="34" charset="-120"/>
              </a:rPr>
              <a:t>Về độ lớn: </a:t>
            </a:r>
            <a:r>
              <a:rPr lang="en-US" sz="1200" dirty="0">
                <a:solidFill>
                  <a:srgbClr val="27314D"/>
                </a:solidFill>
                <a:latin typeface="Calibri" pitchFamily="34" charset="0"/>
                <a:ea typeface="Calibri" pitchFamily="34" charset="-122"/>
                <a:cs typeface="Calibri" pitchFamily="34" charset="-120"/>
              </a:rPr>
              <a:t>mức xung đột lao động tại Việt Nam thấp hơn 50–60% so với O*NET gốc — do hệ số hiệu chỉnh Cap_VN (0,50) thấp hơn Read_VN (0,60) ở kịch bản nền.</a:t>
            </a:r>
            <a:endParaRPr lang="en-US" sz="1200" dirty="0"/>
          </a:p>
          <a:p>
            <a:pPr marL="0" indent="0">
              <a:lnSpc>
                <a:spcPct val="120000"/>
              </a:lnSpc>
              <a:spcAft>
                <a:spcPts val="800"/>
              </a:spcAft>
              <a:buNone/>
            </a:pPr>
            <a:r>
              <a:rPr lang="en-US" sz="1200" b="1" dirty="0">
                <a:solidFill>
                  <a:srgbClr val="1E2761"/>
                </a:solidFill>
                <a:latin typeface="Calibri" pitchFamily="34" charset="0"/>
                <a:ea typeface="Calibri" pitchFamily="34" charset="-122"/>
                <a:cs typeface="Calibri" pitchFamily="34" charset="-120"/>
              </a:rPr>
              <a:t>Về thứ hạng: </a:t>
            </a:r>
            <a:r>
              <a:rPr lang="en-US" sz="1200" dirty="0">
                <a:solidFill>
                  <a:srgbClr val="27314D"/>
                </a:solidFill>
                <a:latin typeface="Calibri" pitchFamily="34" charset="0"/>
                <a:ea typeface="Calibri" pitchFamily="34" charset="-122"/>
                <a:cs typeface="Calibri" pitchFamily="34" charset="-120"/>
              </a:rPr>
              <a:t>Cost Estimators và Accountants &amp; Auditors luôn xếp đầu bảng xung đột, dù dùng công thức nào — danh sách ưu tiên Reskill có tính ổn định cao.</a:t>
            </a:r>
            <a:endParaRPr lang="en-US" sz="1200" dirty="0"/>
          </a:p>
        </p:txBody>
      </p:sp>
      <p:sp>
        <p:nvSpPr>
          <p:cNvPr id="9" name="Shape 5"/>
          <p:cNvSpPr/>
          <p:nvPr/>
        </p:nvSpPr>
        <p:spPr>
          <a:xfrm>
            <a:off x="7132320" y="4160520"/>
            <a:ext cx="4206240" cy="0"/>
          </a:xfrm>
          <a:prstGeom prst="line">
            <a:avLst/>
          </a:prstGeom>
          <a:noFill/>
          <a:ln w="12700">
            <a:solidFill>
              <a:srgbClr val="CADCFC"/>
            </a:solidFill>
            <a:prstDash val="solid"/>
          </a:ln>
        </p:spPr>
      </p:sp>
      <p:sp>
        <p:nvSpPr>
          <p:cNvPr id="10" name="Text 6"/>
          <p:cNvSpPr/>
          <p:nvPr/>
        </p:nvSpPr>
        <p:spPr>
          <a:xfrm>
            <a:off x="7132320" y="4315968"/>
            <a:ext cx="4206240" cy="274320"/>
          </a:xfrm>
          <a:prstGeom prst="rect">
            <a:avLst/>
          </a:prstGeom>
          <a:noFill/>
          <a:ln/>
        </p:spPr>
        <p:txBody>
          <a:bodyPr wrap="square" rtlCol="0" anchor="ctr"/>
          <a:lstStyle/>
          <a:p>
            <a:pPr marL="0" indent="0">
              <a:buNone/>
            </a:pPr>
            <a:r>
              <a:rPr lang="en-US" sz="1150" b="1" dirty="0">
                <a:solidFill>
                  <a:srgbClr val="D9A441"/>
                </a:solidFill>
                <a:latin typeface="Calibri" pitchFamily="34" charset="0"/>
                <a:ea typeface="Calibri" pitchFamily="34" charset="-122"/>
                <a:cs typeface="Calibri" pitchFamily="34" charset="-120"/>
              </a:rPr>
              <a:t>PHÁT HIỆN NGHỊCH LÝ (ĐỘ NHẠY)</a:t>
            </a:r>
            <a:endParaRPr lang="en-US" sz="1150" dirty="0"/>
          </a:p>
        </p:txBody>
      </p:sp>
      <p:sp>
        <p:nvSpPr>
          <p:cNvPr id="11" name="Text 7"/>
          <p:cNvSpPr/>
          <p:nvPr/>
        </p:nvSpPr>
        <p:spPr>
          <a:xfrm>
            <a:off x="7132320" y="4617720"/>
            <a:ext cx="4206240" cy="2011680"/>
          </a:xfrm>
          <a:prstGeom prst="rect">
            <a:avLst/>
          </a:prstGeom>
          <a:noFill/>
          <a:ln/>
        </p:spPr>
        <p:txBody>
          <a:bodyPr wrap="square" rtlCol="0" anchor="ctr"/>
          <a:lstStyle/>
          <a:p>
            <a:pPr marL="0" indent="0">
              <a:lnSpc>
                <a:spcPct val="120000"/>
              </a:lnSpc>
              <a:buNone/>
            </a:pPr>
            <a:r>
              <a:rPr lang="en-US" sz="1150" i="1" dirty="0">
                <a:solidFill>
                  <a:srgbClr val="27314D"/>
                </a:solidFill>
                <a:latin typeface="Calibri" pitchFamily="34" charset="0"/>
                <a:ea typeface="Calibri" pitchFamily="34" charset="-122"/>
                <a:cs typeface="Calibri" pitchFamily="34" charset="-120"/>
              </a:rPr>
              <a:t>Nếu Việt Nam đầu tư hạ tầng công nghệ nhanh hơn tốc độ chuẩn bị con người, khoảng cách WFI_VN sẽ NỚI RỘNG chứ không thu hẹp → cần đầu tư People Readiness song song, thậm chí đi trước công nghệ.</a:t>
            </a:r>
            <a:endParaRPr lang="en-US" sz="1150" dirty="0"/>
          </a:p>
        </p:txBody>
      </p:sp>
      <p:sp>
        <p:nvSpPr>
          <p:cNvPr id="12" name="Text 8"/>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5" name="Text 9"/>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27F794-88B6-1037-5488-F915DC5257F6}"/>
            </a:ext>
          </a:extLst>
        </p:cNvPr>
        <p:cNvGrpSpPr/>
        <p:nvPr/>
      </p:nvGrpSpPr>
      <p:grpSpPr>
        <a:xfrm>
          <a:off x="0" y="0"/>
          <a:ext cx="0" cy="0"/>
          <a:chOff x="0" y="0"/>
          <a:chExt cx="0" cy="0"/>
        </a:xfrm>
      </p:grpSpPr>
      <p:sp>
        <p:nvSpPr>
          <p:cNvPr id="21" name="Shape 2">
            <a:extLst>
              <a:ext uri="{FF2B5EF4-FFF2-40B4-BE49-F238E27FC236}">
                <a16:creationId xmlns:a16="http://schemas.microsoft.com/office/drawing/2014/main" id="{78060CE3-C6A6-FD01-AD82-16F9358FBB93}"/>
              </a:ext>
            </a:extLst>
          </p:cNvPr>
          <p:cNvSpPr/>
          <p:nvPr/>
        </p:nvSpPr>
        <p:spPr>
          <a:xfrm>
            <a:off x="6150864" y="3787615"/>
            <a:ext cx="5632704" cy="2463308"/>
          </a:xfrm>
          <a:prstGeom prst="rect">
            <a:avLst/>
          </a:prstGeom>
          <a:solidFill>
            <a:srgbClr val="F4F5FA"/>
          </a:solidFill>
          <a:ln/>
        </p:spPr>
      </p:sp>
      <p:sp>
        <p:nvSpPr>
          <p:cNvPr id="2" name="Text 0">
            <a:extLst>
              <a:ext uri="{FF2B5EF4-FFF2-40B4-BE49-F238E27FC236}">
                <a16:creationId xmlns:a16="http://schemas.microsoft.com/office/drawing/2014/main" id="{1C54F768-F8D3-ED11-CDD6-4E450F6EADB2}"/>
              </a:ext>
            </a:extLst>
          </p:cNvPr>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5 · MÔ PHỎNG KỊCH BẢN</a:t>
            </a:r>
            <a:endParaRPr lang="en-US" sz="1300" dirty="0"/>
          </a:p>
        </p:txBody>
      </p:sp>
      <p:sp>
        <p:nvSpPr>
          <p:cNvPr id="3" name="Text 1">
            <a:extLst>
              <a:ext uri="{FF2B5EF4-FFF2-40B4-BE49-F238E27FC236}">
                <a16:creationId xmlns:a16="http://schemas.microsoft.com/office/drawing/2014/main" id="{A3874718-44CD-0293-2E32-472B3C0A93E0}"/>
              </a:ext>
            </a:extLst>
          </p:cNvPr>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Kịch bản Việt Nam: KỲ VỌNG (2028) &amp; BỨC PHÁ (2030)</a:t>
            </a:r>
            <a:endParaRPr lang="en-US" sz="3000" dirty="0"/>
          </a:p>
        </p:txBody>
      </p:sp>
      <p:sp>
        <p:nvSpPr>
          <p:cNvPr id="6" name="Shape 2">
            <a:extLst>
              <a:ext uri="{FF2B5EF4-FFF2-40B4-BE49-F238E27FC236}">
                <a16:creationId xmlns:a16="http://schemas.microsoft.com/office/drawing/2014/main" id="{F5FBC630-CC70-A59F-DD75-9F39CAE09058}"/>
              </a:ext>
            </a:extLst>
          </p:cNvPr>
          <p:cNvSpPr/>
          <p:nvPr/>
        </p:nvSpPr>
        <p:spPr>
          <a:xfrm>
            <a:off x="365760" y="3807904"/>
            <a:ext cx="5632704" cy="2463308"/>
          </a:xfrm>
          <a:prstGeom prst="rect">
            <a:avLst/>
          </a:prstGeom>
          <a:solidFill>
            <a:srgbClr val="F4F5FA"/>
          </a:solidFill>
          <a:ln/>
        </p:spPr>
      </p:sp>
      <p:sp>
        <p:nvSpPr>
          <p:cNvPr id="7" name="Text 3">
            <a:extLst>
              <a:ext uri="{FF2B5EF4-FFF2-40B4-BE49-F238E27FC236}">
                <a16:creationId xmlns:a16="http://schemas.microsoft.com/office/drawing/2014/main" id="{225E442D-7A26-37B4-DB8B-6266F2FBFE77}"/>
              </a:ext>
            </a:extLst>
          </p:cNvPr>
          <p:cNvSpPr/>
          <p:nvPr/>
        </p:nvSpPr>
        <p:spPr>
          <a:xfrm>
            <a:off x="7132320" y="1645920"/>
            <a:ext cx="4206240" cy="292608"/>
          </a:xfrm>
          <a:prstGeom prst="rect">
            <a:avLst/>
          </a:prstGeom>
          <a:noFill/>
          <a:ln/>
        </p:spPr>
        <p:txBody>
          <a:bodyPr wrap="square" rtlCol="0" anchor="ctr"/>
          <a:lstStyle/>
          <a:p>
            <a:pPr marL="0" indent="0">
              <a:buNone/>
            </a:pPr>
            <a:endParaRPr lang="en-US" sz="1300" dirty="0"/>
          </a:p>
        </p:txBody>
      </p:sp>
      <p:sp>
        <p:nvSpPr>
          <p:cNvPr id="8" name="Text 4">
            <a:extLst>
              <a:ext uri="{FF2B5EF4-FFF2-40B4-BE49-F238E27FC236}">
                <a16:creationId xmlns:a16="http://schemas.microsoft.com/office/drawing/2014/main" id="{CC79134E-547A-3A1D-97A5-79F1BA47AE2B}"/>
              </a:ext>
            </a:extLst>
          </p:cNvPr>
          <p:cNvSpPr/>
          <p:nvPr/>
        </p:nvSpPr>
        <p:spPr>
          <a:xfrm>
            <a:off x="612648" y="3825977"/>
            <a:ext cx="5385816" cy="2386585"/>
          </a:xfrm>
          <a:prstGeom prst="rect">
            <a:avLst/>
          </a:prstGeom>
          <a:noFill/>
          <a:ln/>
        </p:spPr>
        <p:txBody>
          <a:bodyPr wrap="square" rtlCol="0" anchor="ctr"/>
          <a:lstStyle/>
          <a:p>
            <a:pPr>
              <a:lnSpc>
                <a:spcPct val="120000"/>
              </a:lnSpc>
              <a:spcAft>
                <a:spcPts val="800"/>
              </a:spcAft>
            </a:pPr>
            <a:r>
              <a:rPr lang="vi-VN" sz="1100" i="1" dirty="0">
                <a:latin typeface="+mj-lt"/>
              </a:rPr>
              <a:t>Hệ thống giả lập về Kịch bản “Kì Vọng” với các hệ số vĩ mô đạt mức khá tốt (</a:t>
            </a:r>
            <a:r>
              <a:rPr lang="vi-VN" sz="1100" b="1" i="1" dirty="0">
                <a:solidFill>
                  <a:srgbClr val="002060"/>
                </a:solidFill>
                <a:latin typeface="+mj-lt"/>
              </a:rPr>
              <a:t>TR=0.75, PR=0.7, IR=0.65</a:t>
            </a:r>
            <a:r>
              <a:rPr lang="vi-VN" sz="1100" i="1" dirty="0">
                <a:latin typeface="+mj-lt"/>
              </a:rPr>
              <a:t>) ⟶ Xuất hiện trở lại nhóm “</a:t>
            </a:r>
            <a:r>
              <a:rPr lang="vi-VN" sz="1100" i="1" dirty="0" err="1">
                <a:latin typeface="+mj-lt"/>
              </a:rPr>
              <a:t>Deploy</a:t>
            </a:r>
            <a:r>
              <a:rPr lang="vi-VN" sz="1100" i="1" dirty="0">
                <a:latin typeface="+mj-lt"/>
              </a:rPr>
              <a:t> AI” &amp; “</a:t>
            </a:r>
            <a:r>
              <a:rPr lang="vi-VN" sz="1100" i="1" dirty="0" err="1">
                <a:latin typeface="+mj-lt"/>
              </a:rPr>
              <a:t>Reskill</a:t>
            </a:r>
            <a:r>
              <a:rPr lang="vi-VN" sz="1100" i="1" dirty="0">
                <a:latin typeface="+mj-lt"/>
              </a:rPr>
              <a:t> </a:t>
            </a:r>
            <a:r>
              <a:rPr lang="vi-VN" sz="1100" i="1" dirty="0" err="1">
                <a:latin typeface="+mj-lt"/>
              </a:rPr>
              <a:t>Workforce</a:t>
            </a:r>
            <a:r>
              <a:rPr lang="vi-VN" sz="1100" i="1" dirty="0">
                <a:latin typeface="+mj-lt"/>
              </a:rPr>
              <a:t>” ⟶ Nhóm “</a:t>
            </a:r>
            <a:r>
              <a:rPr lang="vi-VN" sz="1100" i="1" dirty="0" err="1">
                <a:latin typeface="+mj-lt"/>
              </a:rPr>
              <a:t>Improve</a:t>
            </a:r>
            <a:r>
              <a:rPr lang="vi-VN" sz="1100" i="1" dirty="0">
                <a:latin typeface="+mj-lt"/>
              </a:rPr>
              <a:t> AI </a:t>
            </a:r>
            <a:r>
              <a:rPr lang="vi-VN" sz="1100" i="1" dirty="0" err="1">
                <a:latin typeface="+mj-lt"/>
              </a:rPr>
              <a:t>Capability</a:t>
            </a:r>
            <a:r>
              <a:rPr lang="vi-VN" sz="1100" i="1" dirty="0">
                <a:latin typeface="+mj-lt"/>
              </a:rPr>
              <a:t>” chiếm ưu thế ở phân vùng trung-cao ⟶ Thu hẹp vùng “</a:t>
            </a:r>
            <a:r>
              <a:rPr lang="vi-VN" sz="1100" i="1" dirty="0" err="1">
                <a:latin typeface="+mj-lt"/>
              </a:rPr>
              <a:t>Human-Centric</a:t>
            </a:r>
            <a:r>
              <a:rPr lang="vi-VN" sz="1100" i="1" dirty="0">
                <a:latin typeface="+mj-lt"/>
              </a:rPr>
              <a:t> </a:t>
            </a:r>
            <a:r>
              <a:rPr lang="vi-VN" sz="1100" i="1" dirty="0" err="1">
                <a:latin typeface="+mj-lt"/>
              </a:rPr>
              <a:t>Role</a:t>
            </a:r>
            <a:r>
              <a:rPr lang="vi-VN" sz="1100" i="1" dirty="0">
                <a:latin typeface="+mj-lt"/>
              </a:rPr>
              <a:t>” trên biểu đồ Việt Nam </a:t>
            </a:r>
            <a:endParaRPr lang="en-US" sz="1100" i="1" dirty="0">
              <a:latin typeface="+mj-lt"/>
            </a:endParaRPr>
          </a:p>
          <a:p>
            <a:pPr>
              <a:lnSpc>
                <a:spcPct val="120000"/>
              </a:lnSpc>
              <a:spcAft>
                <a:spcPts val="800"/>
              </a:spcAft>
            </a:pPr>
            <a:r>
              <a:rPr lang="vi-VN" sz="1200" b="1" dirty="0" err="1">
                <a:solidFill>
                  <a:srgbClr val="002060"/>
                </a:solidFill>
                <a:latin typeface="+mj-lt"/>
              </a:rPr>
              <a:t>Insight</a:t>
            </a:r>
            <a:r>
              <a:rPr lang="vi-VN" sz="1200" b="1" dirty="0">
                <a:solidFill>
                  <a:srgbClr val="002060"/>
                </a:solidFill>
                <a:latin typeface="+mj-lt"/>
              </a:rPr>
              <a:t>: Khi hạ tầng công nghệ, thể chế và đặc biệt là độ sẵn sàng của lực lượng lao động đạt mức khá, thị trường Việt Nam chính thức mở khóa khả năng triển khai AI tự động hóa và dịch chuyển mạnh mẽ sang mô hình hợp tác Con người - AI, khẳng định nâng cao năng lực nhân sự chính là chìa khóa then chốt để giải phóng tiềm năng công nghệ. </a:t>
            </a:r>
            <a:endParaRPr lang="en-US" sz="1200" dirty="0">
              <a:solidFill>
                <a:srgbClr val="002060"/>
              </a:solidFill>
              <a:latin typeface="+mj-lt"/>
            </a:endParaRPr>
          </a:p>
        </p:txBody>
      </p:sp>
      <p:sp>
        <p:nvSpPr>
          <p:cNvPr id="9" name="Shape 5">
            <a:extLst>
              <a:ext uri="{FF2B5EF4-FFF2-40B4-BE49-F238E27FC236}">
                <a16:creationId xmlns:a16="http://schemas.microsoft.com/office/drawing/2014/main" id="{DB0848B4-7E79-C601-3FCA-278FC21FD7BA}"/>
              </a:ext>
            </a:extLst>
          </p:cNvPr>
          <p:cNvSpPr/>
          <p:nvPr/>
        </p:nvSpPr>
        <p:spPr>
          <a:xfrm>
            <a:off x="6814747" y="3825977"/>
            <a:ext cx="4206240" cy="0"/>
          </a:xfrm>
          <a:prstGeom prst="line">
            <a:avLst/>
          </a:prstGeom>
          <a:noFill/>
          <a:ln w="12700">
            <a:solidFill>
              <a:srgbClr val="CADCFC"/>
            </a:solidFill>
            <a:prstDash val="solid"/>
          </a:ln>
        </p:spPr>
      </p:sp>
      <p:sp>
        <p:nvSpPr>
          <p:cNvPr id="11" name="Text 7">
            <a:extLst>
              <a:ext uri="{FF2B5EF4-FFF2-40B4-BE49-F238E27FC236}">
                <a16:creationId xmlns:a16="http://schemas.microsoft.com/office/drawing/2014/main" id="{F3D99320-CD45-B43D-FF54-E089F1ABB202}"/>
              </a:ext>
            </a:extLst>
          </p:cNvPr>
          <p:cNvSpPr/>
          <p:nvPr/>
        </p:nvSpPr>
        <p:spPr>
          <a:xfrm>
            <a:off x="7132320" y="4617720"/>
            <a:ext cx="4206240" cy="2011680"/>
          </a:xfrm>
          <a:prstGeom prst="rect">
            <a:avLst/>
          </a:prstGeom>
          <a:noFill/>
          <a:ln/>
        </p:spPr>
        <p:txBody>
          <a:bodyPr wrap="square" rtlCol="0" anchor="ctr"/>
          <a:lstStyle/>
          <a:p>
            <a:pPr marL="0" indent="0">
              <a:lnSpc>
                <a:spcPct val="120000"/>
              </a:lnSpc>
              <a:buNone/>
            </a:pPr>
            <a:endParaRPr lang="en-US" sz="1150" dirty="0"/>
          </a:p>
        </p:txBody>
      </p:sp>
      <p:sp>
        <p:nvSpPr>
          <p:cNvPr id="12" name="Text 8">
            <a:extLst>
              <a:ext uri="{FF2B5EF4-FFF2-40B4-BE49-F238E27FC236}">
                <a16:creationId xmlns:a16="http://schemas.microsoft.com/office/drawing/2014/main" id="{5A1CA765-9930-FBBD-2352-DD2D8FDC6039}"/>
              </a:ext>
            </a:extLst>
          </p:cNvPr>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5" name="Text 9">
            <a:extLst>
              <a:ext uri="{FF2B5EF4-FFF2-40B4-BE49-F238E27FC236}">
                <a16:creationId xmlns:a16="http://schemas.microsoft.com/office/drawing/2014/main" id="{8E76D5BF-5319-1A24-4EB5-CC4467AE3024}"/>
              </a:ext>
            </a:extLst>
          </p:cNvPr>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15" name="TextBox 14">
            <a:extLst>
              <a:ext uri="{FF2B5EF4-FFF2-40B4-BE49-F238E27FC236}">
                <a16:creationId xmlns:a16="http://schemas.microsoft.com/office/drawing/2014/main" id="{5B24AC35-78A9-6488-143E-395349022FB3}"/>
              </a:ext>
            </a:extLst>
          </p:cNvPr>
          <p:cNvSpPr txBox="1"/>
          <p:nvPr/>
        </p:nvSpPr>
        <p:spPr>
          <a:xfrm>
            <a:off x="3047238" y="3244334"/>
            <a:ext cx="6094476" cy="369332"/>
          </a:xfrm>
          <a:prstGeom prst="rect">
            <a:avLst/>
          </a:prstGeom>
          <a:noFill/>
        </p:spPr>
        <p:txBody>
          <a:bodyPr wrap="square">
            <a:spAutoFit/>
          </a:bodyPr>
          <a:lstStyle/>
          <a:p>
            <a:endParaRPr lang="vi-VN" dirty="0"/>
          </a:p>
        </p:txBody>
      </p:sp>
      <p:pic>
        <p:nvPicPr>
          <p:cNvPr id="17" name="Picture 16">
            <a:extLst>
              <a:ext uri="{FF2B5EF4-FFF2-40B4-BE49-F238E27FC236}">
                <a16:creationId xmlns:a16="http://schemas.microsoft.com/office/drawing/2014/main" id="{D0625512-C52C-213A-1239-3DA9B58BA543}"/>
              </a:ext>
            </a:extLst>
          </p:cNvPr>
          <p:cNvPicPr>
            <a:picLocks noChangeAspect="1"/>
          </p:cNvPicPr>
          <p:nvPr/>
        </p:nvPicPr>
        <p:blipFill>
          <a:blip r:embed="rId3"/>
          <a:stretch>
            <a:fillRect/>
          </a:stretch>
        </p:blipFill>
        <p:spPr>
          <a:xfrm>
            <a:off x="283464" y="1217045"/>
            <a:ext cx="6314295" cy="2468880"/>
          </a:xfrm>
          <a:prstGeom prst="rect">
            <a:avLst/>
          </a:prstGeom>
        </p:spPr>
      </p:pic>
      <p:sp>
        <p:nvSpPr>
          <p:cNvPr id="19" name="TextBox 18">
            <a:extLst>
              <a:ext uri="{FF2B5EF4-FFF2-40B4-BE49-F238E27FC236}">
                <a16:creationId xmlns:a16="http://schemas.microsoft.com/office/drawing/2014/main" id="{818F9F8E-F2F2-FCD6-ED0A-06820A41F1CC}"/>
              </a:ext>
            </a:extLst>
          </p:cNvPr>
          <p:cNvSpPr txBox="1"/>
          <p:nvPr/>
        </p:nvSpPr>
        <p:spPr>
          <a:xfrm>
            <a:off x="6201156" y="3976621"/>
            <a:ext cx="5532120" cy="2123658"/>
          </a:xfrm>
          <a:prstGeom prst="rect">
            <a:avLst/>
          </a:prstGeom>
          <a:noFill/>
        </p:spPr>
        <p:txBody>
          <a:bodyPr wrap="square">
            <a:spAutoFit/>
          </a:bodyPr>
          <a:lstStyle/>
          <a:p>
            <a:r>
              <a:rPr lang="vi-VN" sz="1200" b="0" i="0" dirty="0">
                <a:effectLst/>
                <a:latin typeface="Cambria" panose="02040503050406030204" pitchFamily="18" charset="0"/>
                <a:ea typeface="Cambria" panose="02040503050406030204" pitchFamily="18" charset="0"/>
                <a:cs typeface="Calibri" panose="020F0502020204030204" pitchFamily="34" charset="0"/>
              </a:rPr>
              <a:t>Hệ thống giả lập về Kịch bản “Bức Phá” với các hệ số vĩ mô đạt mức tối ưu/bứt phá (</a:t>
            </a:r>
            <a:r>
              <a:rPr lang="vi-VN" sz="1200" b="1" i="0" dirty="0">
                <a:solidFill>
                  <a:srgbClr val="002060"/>
                </a:solidFill>
                <a:effectLst/>
                <a:latin typeface="Cambria" panose="02040503050406030204" pitchFamily="18" charset="0"/>
                <a:ea typeface="Cambria" panose="02040503050406030204" pitchFamily="18" charset="0"/>
                <a:cs typeface="Calibri" panose="020F0502020204030204" pitchFamily="34" charset="0"/>
              </a:rPr>
              <a:t>TR=0.85 - 0.9, PR=0.8, IR=0.85</a:t>
            </a:r>
            <a:r>
              <a:rPr lang="vi-VN" sz="1200" b="0" i="0" dirty="0">
                <a:effectLst/>
                <a:latin typeface="Cambria" panose="02040503050406030204" pitchFamily="18" charset="0"/>
                <a:ea typeface="Cambria" panose="02040503050406030204" pitchFamily="18" charset="0"/>
                <a:cs typeface="Calibri" panose="020F0502020204030204" pitchFamily="34" charset="0"/>
              </a:rPr>
              <a:t>) ⟶ Mở rộng quy mô nhóm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Deploy</a:t>
            </a:r>
            <a:r>
              <a:rPr lang="vi-VN" sz="1200" b="0" i="0" dirty="0">
                <a:effectLst/>
                <a:latin typeface="Cambria" panose="02040503050406030204" pitchFamily="18" charset="0"/>
                <a:ea typeface="Cambria" panose="02040503050406030204" pitchFamily="18" charset="0"/>
                <a:cs typeface="Calibri" panose="020F0502020204030204" pitchFamily="34" charset="0"/>
              </a:rPr>
              <a:t> AI” ⟶ Nhóm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Improve</a:t>
            </a:r>
            <a:r>
              <a:rPr lang="vi-VN" sz="1200" b="0" i="0" dirty="0">
                <a:effectLst/>
                <a:latin typeface="Cambria" panose="02040503050406030204" pitchFamily="18" charset="0"/>
                <a:ea typeface="Cambria" panose="02040503050406030204" pitchFamily="18" charset="0"/>
                <a:cs typeface="Calibri" panose="020F0502020204030204" pitchFamily="34" charset="0"/>
              </a:rPr>
              <a:t> AI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Capability</a:t>
            </a:r>
            <a:r>
              <a:rPr lang="vi-VN" sz="1200" b="0" i="0" dirty="0">
                <a:effectLst/>
                <a:latin typeface="Cambria" panose="02040503050406030204" pitchFamily="18" charset="0"/>
                <a:ea typeface="Cambria" panose="02040503050406030204" pitchFamily="18" charset="0"/>
                <a:cs typeface="Calibri" panose="020F0502020204030204" pitchFamily="34" charset="0"/>
              </a:rPr>
              <a:t>” tăng trưởng vượt ⟶ Gia tăng nhóm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Reskill</a:t>
            </a:r>
            <a:r>
              <a:rPr lang="vi-VN" sz="1200" b="0" i="0" dirty="0">
                <a:effectLst/>
                <a:latin typeface="Cambria" panose="02040503050406030204" pitchFamily="18" charset="0"/>
                <a:ea typeface="Cambria" panose="02040503050406030204" pitchFamily="18" charset="0"/>
                <a:cs typeface="Calibri" panose="020F0502020204030204" pitchFamily="34" charset="0"/>
              </a:rPr>
              <a:t>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Workforce</a:t>
            </a:r>
            <a:r>
              <a:rPr lang="vi-VN" sz="1200" b="0" i="0" dirty="0">
                <a:effectLst/>
                <a:latin typeface="Cambria" panose="02040503050406030204" pitchFamily="18" charset="0"/>
                <a:ea typeface="Cambria" panose="02040503050406030204" pitchFamily="18" charset="0"/>
                <a:cs typeface="Calibri" panose="020F0502020204030204" pitchFamily="34" charset="0"/>
              </a:rPr>
              <a:t>” ⟶ Tối thiểu hóa nhóm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Human-Centric</a:t>
            </a:r>
            <a:r>
              <a:rPr lang="vi-VN" sz="1200" b="0" i="0" dirty="0">
                <a:effectLst/>
                <a:latin typeface="Cambria" panose="02040503050406030204" pitchFamily="18" charset="0"/>
                <a:ea typeface="Cambria" panose="02040503050406030204" pitchFamily="18" charset="0"/>
                <a:cs typeface="Calibri" panose="020F0502020204030204" pitchFamily="34" charset="0"/>
              </a:rPr>
              <a:t> </a:t>
            </a:r>
            <a:r>
              <a:rPr lang="vi-VN" sz="1200" b="0" i="0" dirty="0" err="1">
                <a:effectLst/>
                <a:latin typeface="Cambria" panose="02040503050406030204" pitchFamily="18" charset="0"/>
                <a:ea typeface="Cambria" panose="02040503050406030204" pitchFamily="18" charset="0"/>
                <a:cs typeface="Calibri" panose="020F0502020204030204" pitchFamily="34" charset="0"/>
              </a:rPr>
              <a:t>Role</a:t>
            </a:r>
            <a:r>
              <a:rPr lang="vi-VN" sz="1200" b="0" i="0" dirty="0">
                <a:effectLst/>
                <a:latin typeface="Cambria" panose="02040503050406030204" pitchFamily="18" charset="0"/>
                <a:ea typeface="Cambria" panose="02040503050406030204" pitchFamily="18" charset="0"/>
                <a:cs typeface="Calibri" panose="020F0502020204030204" pitchFamily="34" charset="0"/>
              </a:rPr>
              <a:t>” trên biểu đồ Việt Nam </a:t>
            </a:r>
            <a:endParaRPr lang="en-US" sz="1200" dirty="0">
              <a:latin typeface="Cambria" panose="02040503050406030204" pitchFamily="18" charset="0"/>
              <a:ea typeface="Cambria" panose="02040503050406030204" pitchFamily="18" charset="0"/>
              <a:cs typeface="Calibri" panose="020F0502020204030204" pitchFamily="34" charset="0"/>
            </a:endParaRPr>
          </a:p>
          <a:p>
            <a:endParaRPr lang="en-US" sz="1200" dirty="0">
              <a:latin typeface="Cambria" panose="02040503050406030204" pitchFamily="18" charset="0"/>
              <a:ea typeface="Cambria" panose="02040503050406030204" pitchFamily="18" charset="0"/>
              <a:cs typeface="Calibri" panose="020F0502020204030204" pitchFamily="34" charset="0"/>
            </a:endParaRPr>
          </a:p>
          <a:p>
            <a:r>
              <a:rPr lang="vi-VN" sz="1200" b="1" i="0" dirty="0" err="1">
                <a:solidFill>
                  <a:srgbClr val="002060"/>
                </a:solidFill>
                <a:effectLst/>
                <a:latin typeface="Cambria" panose="02040503050406030204" pitchFamily="18" charset="0"/>
                <a:ea typeface="Cambria" panose="02040503050406030204" pitchFamily="18" charset="0"/>
                <a:cs typeface="Calibri" panose="020F0502020204030204" pitchFamily="34" charset="0"/>
              </a:rPr>
              <a:t>Insight</a:t>
            </a:r>
            <a:r>
              <a:rPr lang="vi-VN" sz="1200" b="1" i="0" dirty="0">
                <a:solidFill>
                  <a:srgbClr val="002060"/>
                </a:solidFill>
                <a:effectLst/>
                <a:latin typeface="Cambria" panose="02040503050406030204" pitchFamily="18" charset="0"/>
                <a:ea typeface="Cambria" panose="02040503050406030204" pitchFamily="18" charset="0"/>
                <a:cs typeface="Calibri" panose="020F0502020204030204" pitchFamily="34" charset="0"/>
              </a:rPr>
              <a:t>: khi hạ tầng công nghệ, thể chế và năng lực lao động cùng đạt trạng thái bứt phá toàn diện, thị trường Việt Nam tiệm cận tối đa với ma trận chuyển đổi toàn cầu, cho phép doanh nghiệp tối ưu hóa chi phí vận hành và giải phóng tối đa năng suất lao động. Tuy nhiên, điều này cũng đặt ra thách thức quản trị lớn khi nguy cơ đứt gãy và lực ma sát đào tạo lại đạt mức đỉnh điểm, yêu cầu chiến lược quản trị sự thay đổi phải được triển khai đồng bộ. </a:t>
            </a:r>
            <a:endParaRPr lang="vi-VN" sz="1200" dirty="0">
              <a:solidFill>
                <a:srgbClr val="002060"/>
              </a:solidFill>
              <a:latin typeface="Cambria" panose="02040503050406030204" pitchFamily="18" charset="0"/>
              <a:ea typeface="Cambria" panose="02040503050406030204" pitchFamily="18" charset="0"/>
              <a:cs typeface="Calibri" panose="020F0502020204030204" pitchFamily="34" charset="0"/>
            </a:endParaRPr>
          </a:p>
        </p:txBody>
      </p:sp>
      <p:pic>
        <p:nvPicPr>
          <p:cNvPr id="23" name="Picture 22">
            <a:extLst>
              <a:ext uri="{FF2B5EF4-FFF2-40B4-BE49-F238E27FC236}">
                <a16:creationId xmlns:a16="http://schemas.microsoft.com/office/drawing/2014/main" id="{9F1FCF3B-E2FB-4FAC-B292-920C43E91473}"/>
              </a:ext>
            </a:extLst>
          </p:cNvPr>
          <p:cNvPicPr>
            <a:picLocks noChangeAspect="1"/>
          </p:cNvPicPr>
          <p:nvPr/>
        </p:nvPicPr>
        <p:blipFill>
          <a:blip r:embed="rId4"/>
          <a:srcRect r="12526"/>
          <a:stretch>
            <a:fillRect/>
          </a:stretch>
        </p:blipFill>
        <p:spPr>
          <a:xfrm>
            <a:off x="6477575" y="1541707"/>
            <a:ext cx="5255701" cy="2117679"/>
          </a:xfrm>
          <a:prstGeom prst="rect">
            <a:avLst/>
          </a:prstGeom>
        </p:spPr>
      </p:pic>
    </p:spTree>
    <p:extLst>
      <p:ext uri="{BB962C8B-B14F-4D97-AF65-F5344CB8AC3E}">
        <p14:creationId xmlns:p14="http://schemas.microsoft.com/office/powerpoint/2010/main" val="1419616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5 · ĐỀ XUẤT GIẢI PHÁP</a:t>
            </a:r>
            <a:endParaRPr lang="en-US" sz="1300" dirty="0"/>
          </a:p>
        </p:txBody>
      </p:sp>
      <p:sp>
        <p:nvSpPr>
          <p:cNvPr id="3" name="Text 1"/>
          <p:cNvSpPr/>
          <p:nvPr/>
        </p:nvSpPr>
        <p:spPr>
          <a:xfrm>
            <a:off x="548640" y="56692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Khuyến nghị Chiến lược</a:t>
            </a:r>
            <a:endParaRPr lang="en-US" sz="3000" dirty="0"/>
          </a:p>
        </p:txBody>
      </p:sp>
      <p:sp>
        <p:nvSpPr>
          <p:cNvPr id="4" name="Shape 2"/>
          <p:cNvSpPr/>
          <p:nvPr/>
        </p:nvSpPr>
        <p:spPr>
          <a:xfrm>
            <a:off x="548640" y="1508760"/>
            <a:ext cx="3505200" cy="502920"/>
          </a:xfrm>
          <a:prstGeom prst="rect">
            <a:avLst/>
          </a:prstGeom>
          <a:solidFill>
            <a:srgbClr val="1E2761"/>
          </a:solidFill>
          <a:ln/>
        </p:spPr>
      </p:sp>
      <p:sp>
        <p:nvSpPr>
          <p:cNvPr id="5" name="Text 3"/>
          <p:cNvSpPr/>
          <p:nvPr/>
        </p:nvSpPr>
        <p:spPr>
          <a:xfrm>
            <a:off x="548640" y="1508760"/>
            <a:ext cx="3505200" cy="50292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DOANH NGHIỆP</a:t>
            </a:r>
            <a:endParaRPr lang="en-US" sz="1400" dirty="0"/>
          </a:p>
        </p:txBody>
      </p:sp>
      <p:sp>
        <p:nvSpPr>
          <p:cNvPr id="6" name="Shape 4"/>
          <p:cNvSpPr/>
          <p:nvPr/>
        </p:nvSpPr>
        <p:spPr>
          <a:xfrm>
            <a:off x="548640" y="2011680"/>
            <a:ext cx="3505200" cy="3977640"/>
          </a:xfrm>
          <a:prstGeom prst="rect">
            <a:avLst/>
          </a:prstGeom>
          <a:solidFill>
            <a:srgbClr val="F4F5FA"/>
          </a:solidFill>
          <a:ln/>
        </p:spPr>
      </p:sp>
      <p:sp>
        <p:nvSpPr>
          <p:cNvPr id="7" name="Text 5"/>
          <p:cNvSpPr/>
          <p:nvPr/>
        </p:nvSpPr>
        <p:spPr>
          <a:xfrm>
            <a:off x="777240" y="2194560"/>
            <a:ext cx="3048000" cy="3611880"/>
          </a:xfrm>
          <a:prstGeom prst="rect">
            <a:avLst/>
          </a:prstGeom>
          <a:noFill/>
          <a:ln/>
        </p:spPr>
        <p:txBody>
          <a:bodyPr wrap="square" rtlCol="0" anchor="t"/>
          <a:lstStyle/>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Ưu tiên ngân sách theo AIPS: nhóm High Priority (WEI cao, CI thấp) trước.</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Nhóm Reskill Workforce: đào tạo song song, không tự động hoá ngay.</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Duy trì Human-in-the-loop cho mọi nghề có CI thuộc top 25%.</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Dùng công cụ mô phỏng kịch bản (TRP/PRP/IRP) để lập kế hoạch động.</a:t>
            </a:r>
            <a:endParaRPr lang="en-US" sz="1150" dirty="0"/>
          </a:p>
        </p:txBody>
      </p:sp>
      <p:sp>
        <p:nvSpPr>
          <p:cNvPr id="8" name="Shape 6"/>
          <p:cNvSpPr/>
          <p:nvPr/>
        </p:nvSpPr>
        <p:spPr>
          <a:xfrm>
            <a:off x="4328160" y="1508760"/>
            <a:ext cx="3505200" cy="502920"/>
          </a:xfrm>
          <a:prstGeom prst="rect">
            <a:avLst/>
          </a:prstGeom>
          <a:solidFill>
            <a:srgbClr val="1C7293"/>
          </a:solidFill>
          <a:ln/>
        </p:spPr>
      </p:sp>
      <p:sp>
        <p:nvSpPr>
          <p:cNvPr id="9" name="Text 7"/>
          <p:cNvSpPr/>
          <p:nvPr/>
        </p:nvSpPr>
        <p:spPr>
          <a:xfrm>
            <a:off x="4328160" y="1508760"/>
            <a:ext cx="3505200" cy="50292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NGƯỜI LAO ĐỘNG</a:t>
            </a:r>
            <a:endParaRPr lang="en-US" sz="1400" dirty="0"/>
          </a:p>
        </p:txBody>
      </p:sp>
      <p:sp>
        <p:nvSpPr>
          <p:cNvPr id="10" name="Shape 8"/>
          <p:cNvSpPr/>
          <p:nvPr/>
        </p:nvSpPr>
        <p:spPr>
          <a:xfrm>
            <a:off x="4328160" y="2011680"/>
            <a:ext cx="3505200" cy="3977640"/>
          </a:xfrm>
          <a:prstGeom prst="rect">
            <a:avLst/>
          </a:prstGeom>
          <a:solidFill>
            <a:srgbClr val="F4F5FA"/>
          </a:solidFill>
          <a:ln/>
        </p:spPr>
      </p:sp>
      <p:sp>
        <p:nvSpPr>
          <p:cNvPr id="11" name="Text 9"/>
          <p:cNvSpPr/>
          <p:nvPr/>
        </p:nvSpPr>
        <p:spPr>
          <a:xfrm>
            <a:off x="4556760" y="2194560"/>
            <a:ext cx="3048000" cy="3611880"/>
          </a:xfrm>
          <a:prstGeom prst="rect">
            <a:avLst/>
          </a:prstGeom>
          <a:noFill/>
          <a:ln/>
        </p:spPr>
        <p:txBody>
          <a:bodyPr wrap="square" rtlCol="0" anchor="t"/>
          <a:lstStyle/>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Nhóm Reskill: chủ động nâng Read trước khi Cap tiếp tục tăng.</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Nhóm CI cao: định vị vai trò giám sát/kiểm soát chất lượng AI.</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Nhóm Human-Centric: tận dụng thời gian phát triển kỹ năng chuyên môn sâu, giao tiếp, ra quyết định.</a:t>
            </a:r>
            <a:endParaRPr lang="en-US" sz="1150" dirty="0"/>
          </a:p>
        </p:txBody>
      </p:sp>
      <p:sp>
        <p:nvSpPr>
          <p:cNvPr id="12" name="Shape 10"/>
          <p:cNvSpPr/>
          <p:nvPr/>
        </p:nvSpPr>
        <p:spPr>
          <a:xfrm>
            <a:off x="8107680" y="1508760"/>
            <a:ext cx="3505200" cy="502920"/>
          </a:xfrm>
          <a:prstGeom prst="rect">
            <a:avLst/>
          </a:prstGeom>
          <a:solidFill>
            <a:srgbClr val="8A5AA6"/>
          </a:solidFill>
          <a:ln/>
        </p:spPr>
      </p:sp>
      <p:sp>
        <p:nvSpPr>
          <p:cNvPr id="13" name="Text 11"/>
          <p:cNvSpPr/>
          <p:nvPr/>
        </p:nvSpPr>
        <p:spPr>
          <a:xfrm>
            <a:off x="8107680" y="1508760"/>
            <a:ext cx="3505200" cy="50292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NHÀ QUẢN LÝ</a:t>
            </a:r>
            <a:endParaRPr lang="en-US" sz="1400" dirty="0"/>
          </a:p>
        </p:txBody>
      </p:sp>
      <p:sp>
        <p:nvSpPr>
          <p:cNvPr id="14" name="Shape 12"/>
          <p:cNvSpPr/>
          <p:nvPr/>
        </p:nvSpPr>
        <p:spPr>
          <a:xfrm>
            <a:off x="8107680" y="2011680"/>
            <a:ext cx="3505200" cy="3977640"/>
          </a:xfrm>
          <a:prstGeom prst="rect">
            <a:avLst/>
          </a:prstGeom>
          <a:solidFill>
            <a:srgbClr val="F4F5FA"/>
          </a:solidFill>
          <a:ln/>
        </p:spPr>
      </p:sp>
      <p:sp>
        <p:nvSpPr>
          <p:cNvPr id="15" name="Text 13"/>
          <p:cNvSpPr/>
          <p:nvPr/>
        </p:nvSpPr>
        <p:spPr>
          <a:xfrm>
            <a:off x="8336280" y="2194560"/>
            <a:ext cx="3048000" cy="3611880"/>
          </a:xfrm>
          <a:prstGeom prst="rect">
            <a:avLst/>
          </a:prstGeom>
          <a:noFill/>
          <a:ln/>
        </p:spPr>
        <p:txBody>
          <a:bodyPr wrap="square" rtlCol="0" anchor="t"/>
          <a:lstStyle/>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Thúc đẩy song song hạ tầng công nghệ (TRP) và khung pháp lý (IRP).</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Dùng công cụ mô phỏng để định lượng tác động của chính sách.</a:t>
            </a:r>
            <a:endParaRPr lang="en-US" sz="1150" dirty="0"/>
          </a:p>
          <a:p>
            <a:pPr marL="342900" indent="-342900">
              <a:lnSpc>
                <a:spcPct val="120000"/>
              </a:lnSpc>
              <a:spcAft>
                <a:spcPts val="1000"/>
              </a:spcAft>
              <a:buSzPct val="100000"/>
              <a:buChar char="●"/>
            </a:pPr>
            <a:r>
              <a:rPr lang="en-US" sz="1150" dirty="0">
                <a:solidFill>
                  <a:srgbClr val="27314D"/>
                </a:solidFill>
                <a:latin typeface="Calibri" pitchFamily="34" charset="0"/>
                <a:ea typeface="Calibri" pitchFamily="34" charset="-122"/>
                <a:cs typeface="Calibri" pitchFamily="34" charset="-120"/>
              </a:rPr>
              <a:t>Ưu tiên giám sát bắt buộc cho nhóm CI cao trong Quản trị &amp; Tài chính.</a:t>
            </a:r>
            <a:endParaRPr lang="en-US" sz="1150" dirty="0"/>
          </a:p>
        </p:txBody>
      </p:sp>
      <p:sp>
        <p:nvSpPr>
          <p:cNvPr id="16" name="Text 14"/>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NHÓM 18  ·  TRỰC QUAN HÓA DỮ LIỆU  ·  DAT713_252_1_D01</a:t>
            </a:r>
            <a:endParaRPr lang="en-US" sz="900" dirty="0"/>
          </a:p>
        </p:txBody>
      </p:sp>
      <p:sp>
        <p:nvSpPr>
          <p:cNvPr id="17" name="Text 15"/>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141B45"/>
          </a:solidFill>
          <a:ln/>
        </p:spPr>
      </p:sp>
      <p:sp>
        <p:nvSpPr>
          <p:cNvPr id="3" name="Shape 1"/>
          <p:cNvSpPr/>
          <p:nvPr/>
        </p:nvSpPr>
        <p:spPr>
          <a:xfrm>
            <a:off x="10241280" y="4389120"/>
            <a:ext cx="4206240" cy="4206240"/>
          </a:xfrm>
          <a:prstGeom prst="ellipse">
            <a:avLst/>
          </a:prstGeom>
          <a:solidFill>
            <a:srgbClr val="141B45"/>
          </a:solidFill>
          <a:ln/>
        </p:spPr>
      </p:sp>
      <p:sp>
        <p:nvSpPr>
          <p:cNvPr id="4" name="Text 2"/>
          <p:cNvSpPr/>
          <p:nvPr/>
        </p:nvSpPr>
        <p:spPr>
          <a:xfrm>
            <a:off x="548640" y="411480"/>
            <a:ext cx="9144000" cy="292608"/>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CHƯƠNG 6 · TỔNG KẾT</a:t>
            </a:r>
            <a:endParaRPr lang="en-US" sz="1300" dirty="0"/>
          </a:p>
        </p:txBody>
      </p:sp>
      <p:sp>
        <p:nvSpPr>
          <p:cNvPr id="5" name="Text 3"/>
          <p:cNvSpPr/>
          <p:nvPr/>
        </p:nvSpPr>
        <p:spPr>
          <a:xfrm>
            <a:off x="548640" y="667512"/>
            <a:ext cx="109728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Kết luận &amp; Hướng phát triển</a:t>
            </a:r>
            <a:endParaRPr lang="en-US" sz="3000" dirty="0"/>
          </a:p>
        </p:txBody>
      </p:sp>
      <p:sp>
        <p:nvSpPr>
          <p:cNvPr id="6" name="Shape 4"/>
          <p:cNvSpPr/>
          <p:nvPr/>
        </p:nvSpPr>
        <p:spPr>
          <a:xfrm>
            <a:off x="548640" y="1691640"/>
            <a:ext cx="3474720" cy="4572000"/>
          </a:xfrm>
          <a:prstGeom prst="rect">
            <a:avLst/>
          </a:prstGeom>
          <a:solidFill>
            <a:srgbClr val="263172"/>
          </a:solidFill>
          <a:ln/>
        </p:spPr>
      </p:sp>
      <p:sp>
        <p:nvSpPr>
          <p:cNvPr id="7" name="Text 5"/>
          <p:cNvSpPr/>
          <p:nvPr/>
        </p:nvSpPr>
        <p:spPr>
          <a:xfrm>
            <a:off x="777240" y="1874520"/>
            <a:ext cx="3017520" cy="365760"/>
          </a:xfrm>
          <a:prstGeom prst="rect">
            <a:avLst/>
          </a:prstGeom>
          <a:noFill/>
          <a:ln/>
        </p:spPr>
        <p:txBody>
          <a:bodyPr wrap="square"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KẾT QUẢ CHÍNH</a:t>
            </a:r>
            <a:endParaRPr lang="en-US" sz="1500" dirty="0"/>
          </a:p>
        </p:txBody>
      </p:sp>
      <p:sp>
        <p:nvSpPr>
          <p:cNvPr id="8" name="Text 6"/>
          <p:cNvSpPr/>
          <p:nvPr/>
        </p:nvSpPr>
        <p:spPr>
          <a:xfrm>
            <a:off x="777240" y="2377440"/>
            <a:ext cx="3017520" cy="3749040"/>
          </a:xfrm>
          <a:prstGeom prst="rect">
            <a:avLst/>
          </a:prstGeom>
          <a:noFill/>
          <a:ln/>
        </p:spPr>
        <p:txBody>
          <a:bodyPr wrap="square" rtlCol="0" anchor="ctr"/>
          <a:lstStyle/>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Xây dựng Decision Support Framework với 3 chỉ số cốt lõi: AI Capability, Worker Readiness, Worker Friction Index.</a:t>
            </a:r>
            <a:endParaRPr lang="en-US" sz="1200" dirty="0"/>
          </a:p>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Phân loại 4 chiến lược chuyển đổi: Deploy AI, Reskill Workforce, Human–AI Collaboration, Human-led.</a:t>
            </a:r>
            <a:endParaRPr lang="en-US" sz="1200" dirty="0"/>
          </a:p>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Trực quan hoá dashboard kết nối năng lực AI, mức sẵn sàng lao động và rủi ro chuyển đổi.</a:t>
            </a:r>
            <a:endParaRPr lang="en-US" sz="1200" dirty="0"/>
          </a:p>
        </p:txBody>
      </p:sp>
      <p:sp>
        <p:nvSpPr>
          <p:cNvPr id="9" name="Shape 7"/>
          <p:cNvSpPr/>
          <p:nvPr/>
        </p:nvSpPr>
        <p:spPr>
          <a:xfrm>
            <a:off x="4343400" y="1691640"/>
            <a:ext cx="3474720" cy="4572000"/>
          </a:xfrm>
          <a:prstGeom prst="rect">
            <a:avLst/>
          </a:prstGeom>
          <a:solidFill>
            <a:srgbClr val="263172"/>
          </a:solidFill>
          <a:ln/>
        </p:spPr>
      </p:sp>
      <p:sp>
        <p:nvSpPr>
          <p:cNvPr id="10" name="Text 8"/>
          <p:cNvSpPr/>
          <p:nvPr/>
        </p:nvSpPr>
        <p:spPr>
          <a:xfrm>
            <a:off x="4572000" y="1874520"/>
            <a:ext cx="3017520" cy="365760"/>
          </a:xfrm>
          <a:prstGeom prst="rect">
            <a:avLst/>
          </a:prstGeom>
          <a:noFill/>
          <a:ln/>
        </p:spPr>
        <p:txBody>
          <a:bodyPr wrap="square"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HẠN CHẾ</a:t>
            </a:r>
            <a:endParaRPr lang="en-US" sz="1500" dirty="0"/>
          </a:p>
        </p:txBody>
      </p:sp>
      <p:sp>
        <p:nvSpPr>
          <p:cNvPr id="11" name="Text 9"/>
          <p:cNvSpPr/>
          <p:nvPr/>
        </p:nvSpPr>
        <p:spPr>
          <a:xfrm>
            <a:off x="4572000" y="2377440"/>
            <a:ext cx="3017520" cy="3749040"/>
          </a:xfrm>
          <a:prstGeom prst="rect">
            <a:avLst/>
          </a:prstGeom>
          <a:noFill/>
          <a:ln/>
        </p:spPr>
        <p:txBody>
          <a:bodyPr wrap="square" rtlCol="0" anchor="ctr"/>
          <a:lstStyle/>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Dữ liệu O*NET/World Bank (Mỹ) chưa phản ánh đầy đủ đặc thù doanh nghiệp Việt Nam.</a:t>
            </a:r>
            <a:endParaRPr lang="en-US" sz="1200" dirty="0"/>
          </a:p>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Tham số TRP/PRP/IRP là giả định minh hoạ, chưa hiệu chỉnh bằng khảo sát thực tế.</a:t>
            </a:r>
            <a:endParaRPr lang="en-US" sz="1200" dirty="0"/>
          </a:p>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Mẫu 34 nghề giới hạn khả năng khái quát cho toàn thị trường lao động.</a:t>
            </a:r>
            <a:endParaRPr lang="en-US" sz="1200" dirty="0"/>
          </a:p>
        </p:txBody>
      </p:sp>
      <p:sp>
        <p:nvSpPr>
          <p:cNvPr id="12" name="Shape 10"/>
          <p:cNvSpPr/>
          <p:nvPr/>
        </p:nvSpPr>
        <p:spPr>
          <a:xfrm>
            <a:off x="8138160" y="1691640"/>
            <a:ext cx="3474720" cy="4572000"/>
          </a:xfrm>
          <a:prstGeom prst="rect">
            <a:avLst/>
          </a:prstGeom>
          <a:solidFill>
            <a:srgbClr val="263172"/>
          </a:solidFill>
          <a:ln/>
        </p:spPr>
      </p:sp>
      <p:sp>
        <p:nvSpPr>
          <p:cNvPr id="13" name="Text 11"/>
          <p:cNvSpPr/>
          <p:nvPr/>
        </p:nvSpPr>
        <p:spPr>
          <a:xfrm>
            <a:off x="8366760" y="1874520"/>
            <a:ext cx="3017520" cy="365760"/>
          </a:xfrm>
          <a:prstGeom prst="rect">
            <a:avLst/>
          </a:prstGeom>
          <a:noFill/>
          <a:ln/>
        </p:spPr>
        <p:txBody>
          <a:bodyPr wrap="square"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HƯỚNG PHÁT TRIỂN</a:t>
            </a:r>
            <a:endParaRPr lang="en-US" sz="1500" dirty="0"/>
          </a:p>
        </p:txBody>
      </p:sp>
      <p:sp>
        <p:nvSpPr>
          <p:cNvPr id="14" name="Text 12"/>
          <p:cNvSpPr/>
          <p:nvPr/>
        </p:nvSpPr>
        <p:spPr>
          <a:xfrm>
            <a:off x="8366760" y="2377440"/>
            <a:ext cx="3017520" cy="3749040"/>
          </a:xfrm>
          <a:prstGeom prst="rect">
            <a:avLst/>
          </a:prstGeom>
          <a:noFill/>
          <a:ln/>
        </p:spPr>
        <p:txBody>
          <a:bodyPr wrap="square" rtlCol="0" anchor="ctr"/>
          <a:lstStyle/>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Thu thập dữ liệu thực tế từ doanh nghiệp Việt Nam để hiệu chỉnh mô hình.</a:t>
            </a:r>
            <a:endParaRPr lang="en-US" sz="1200" dirty="0"/>
          </a:p>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Bổ sung chỉ số ROI, chi phí triển khai, mức độ trưởng thành số của doanh nghiệp.</a:t>
            </a:r>
            <a:endParaRPr lang="en-US" sz="1200" dirty="0"/>
          </a:p>
          <a:p>
            <a:pPr marL="342900" indent="-342900">
              <a:lnSpc>
                <a:spcPct val="12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Phát triển dashboard tương tác: chọn ngành nghề, điều chỉnh trọng số, mô phỏng đa kịch bản.</a:t>
            </a:r>
            <a:endParaRPr lang="en-US" sz="1200" dirty="0"/>
          </a:p>
        </p:txBody>
      </p:sp>
      <p:sp>
        <p:nvSpPr>
          <p:cNvPr id="15" name="Text 13"/>
          <p:cNvSpPr/>
          <p:nvPr/>
        </p:nvSpPr>
        <p:spPr>
          <a:xfrm>
            <a:off x="548640" y="6400800"/>
            <a:ext cx="10972800" cy="320040"/>
          </a:xfrm>
          <a:prstGeom prst="rect">
            <a:avLst/>
          </a:prstGeom>
          <a:noFill/>
          <a:ln/>
        </p:spPr>
        <p:txBody>
          <a:bodyPr wrap="square" rtlCol="0" anchor="ctr"/>
          <a:lstStyle/>
          <a:p>
            <a:pPr marL="0" indent="0" algn="ctr">
              <a:buNone/>
            </a:pPr>
            <a:r>
              <a:rPr lang="en-US" sz="1150" i="1" dirty="0">
                <a:solidFill>
                  <a:srgbClr val="CADCFC"/>
                </a:solidFill>
                <a:latin typeface="Calibri" pitchFamily="34" charset="0"/>
                <a:ea typeface="Calibri" pitchFamily="34" charset="-122"/>
                <a:cs typeface="Calibri" pitchFamily="34" charset="-120"/>
              </a:rPr>
              <a:t>Cảm ơn Thầy/Cô đã theo dõi báo cáo — Nhóm 18</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2875</Words>
  <Application>Microsoft Office PowerPoint</Application>
  <PresentationFormat>Widescreen</PresentationFormat>
  <Paragraphs>282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Vân Nguyễn</cp:lastModifiedBy>
  <cp:revision>3</cp:revision>
  <dcterms:created xsi:type="dcterms:W3CDTF">2026-07-23T07:42:05Z</dcterms:created>
  <dcterms:modified xsi:type="dcterms:W3CDTF">2026-07-23T09:29:51Z</dcterms:modified>
</cp:coreProperties>
</file>